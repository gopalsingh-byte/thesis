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1" r:id="rId1"/>
  </p:sldMasterIdLst>
  <p:notesMasterIdLst>
    <p:notesMasterId r:id="rId22"/>
  </p:notesMasterIdLst>
  <p:sldIdLst>
    <p:sldId id="278" r:id="rId2"/>
    <p:sldId id="300" r:id="rId3"/>
    <p:sldId id="279" r:id="rId4"/>
    <p:sldId id="283" r:id="rId5"/>
    <p:sldId id="258" r:id="rId6"/>
    <p:sldId id="277" r:id="rId7"/>
    <p:sldId id="290" r:id="rId8"/>
    <p:sldId id="280" r:id="rId9"/>
    <p:sldId id="275" r:id="rId10"/>
    <p:sldId id="286" r:id="rId11"/>
    <p:sldId id="288" r:id="rId12"/>
    <p:sldId id="270" r:id="rId13"/>
    <p:sldId id="291" r:id="rId14"/>
    <p:sldId id="284" r:id="rId15"/>
    <p:sldId id="302" r:id="rId16"/>
    <p:sldId id="296" r:id="rId17"/>
    <p:sldId id="297" r:id="rId18"/>
    <p:sldId id="299" r:id="rId19"/>
    <p:sldId id="301" r:id="rId20"/>
    <p:sldId id="29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C89B3C"/>
    <a:srgbClr val="2C3E73"/>
    <a:srgbClr val="195A2D"/>
    <a:srgbClr val="FFFF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EBA454-2CFF-4C24-B7E1-DA24C9570D05}" v="35" dt="2026-06-27T01:10:32.7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5033" autoAdjust="0"/>
  </p:normalViewPr>
  <p:slideViewPr>
    <p:cSldViewPr snapToGrid="0" snapToObjects="1">
      <p:cViewPr varScale="1">
        <p:scale>
          <a:sx n="82" d="100"/>
          <a:sy n="82" d="100"/>
        </p:scale>
        <p:origin x="161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al Singh" userId="b68fab42bd18a38f" providerId="LiveId" clId="{120F44D9-F26F-49A6-9068-3C36FF4089C6}"/>
    <pc:docChg chg="undo redo custSel addSld delSld modSld sldOrd">
      <pc:chgData name="Gopal Singh" userId="b68fab42bd18a38f" providerId="LiveId" clId="{120F44D9-F26F-49A6-9068-3C36FF4089C6}" dt="2026-06-27T01:14:05.386" v="860" actId="113"/>
      <pc:docMkLst>
        <pc:docMk/>
      </pc:docMkLst>
      <pc:sldChg chg="addSp delSp modSp mod ord">
        <pc:chgData name="Gopal Singh" userId="b68fab42bd18a38f" providerId="LiveId" clId="{120F44D9-F26F-49A6-9068-3C36FF4089C6}" dt="2026-06-26T07:08:00.889" v="656" actId="1076"/>
        <pc:sldMkLst>
          <pc:docMk/>
          <pc:sldMk cId="3346043664" sldId="258"/>
        </pc:sldMkLst>
        <pc:spChg chg="add mod">
          <ac:chgData name="Gopal Singh" userId="b68fab42bd18a38f" providerId="LiveId" clId="{120F44D9-F26F-49A6-9068-3C36FF4089C6}" dt="2026-06-26T07:07:45.271" v="651" actId="1076"/>
          <ac:spMkLst>
            <pc:docMk/>
            <pc:sldMk cId="3346043664" sldId="258"/>
            <ac:spMk id="3" creationId="{6064BB72-0517-4A94-435A-32111FDA31F4}"/>
          </ac:spMkLst>
        </pc:spChg>
        <pc:spChg chg="add del">
          <ac:chgData name="Gopal Singh" userId="b68fab42bd18a38f" providerId="LiveId" clId="{120F44D9-F26F-49A6-9068-3C36FF4089C6}" dt="2026-06-26T06:05:49.295" v="233" actId="22"/>
          <ac:spMkLst>
            <pc:docMk/>
            <pc:sldMk cId="3346043664" sldId="258"/>
            <ac:spMk id="3" creationId="{D9A9F0FA-3881-6F65-AFC7-A8961E0E42C6}"/>
          </ac:spMkLst>
        </pc:spChg>
        <pc:spChg chg="mod">
          <ac:chgData name="Gopal Singh" userId="b68fab42bd18a38f" providerId="LiveId" clId="{120F44D9-F26F-49A6-9068-3C36FF4089C6}" dt="2026-06-26T07:07:10.355" v="644" actId="1076"/>
          <ac:spMkLst>
            <pc:docMk/>
            <pc:sldMk cId="3346043664" sldId="258"/>
            <ac:spMk id="5" creationId="{033738A3-9037-A44E-42F9-0CC271A5DE43}"/>
          </ac:spMkLst>
        </pc:spChg>
        <pc:spChg chg="del mod">
          <ac:chgData name="Gopal Singh" userId="b68fab42bd18a38f" providerId="LiveId" clId="{120F44D9-F26F-49A6-9068-3C36FF4089C6}" dt="2026-06-26T06:05:41.198" v="231"/>
          <ac:spMkLst>
            <pc:docMk/>
            <pc:sldMk cId="3346043664" sldId="258"/>
            <ac:spMk id="6" creationId="{5EF94178-966C-9ABE-FAF8-26A95E2CBC7C}"/>
          </ac:spMkLst>
        </pc:spChg>
        <pc:spChg chg="mod">
          <ac:chgData name="Gopal Singh" userId="b68fab42bd18a38f" providerId="LiveId" clId="{120F44D9-F26F-49A6-9068-3C36FF4089C6}" dt="2026-06-26T07:07:56.880" v="655" actId="1076"/>
          <ac:spMkLst>
            <pc:docMk/>
            <pc:sldMk cId="3346043664" sldId="258"/>
            <ac:spMk id="8" creationId="{E87DC0E5-BA17-24CB-8B77-D83F822B5789}"/>
          </ac:spMkLst>
        </pc:spChg>
        <pc:spChg chg="mod">
          <ac:chgData name="Gopal Singh" userId="b68fab42bd18a38f" providerId="LiveId" clId="{120F44D9-F26F-49A6-9068-3C36FF4089C6}" dt="2026-06-26T07:08:00.889" v="656" actId="1076"/>
          <ac:spMkLst>
            <pc:docMk/>
            <pc:sldMk cId="3346043664" sldId="258"/>
            <ac:spMk id="9" creationId="{3CEF94F6-6519-66CE-E6B6-E25E0BFA2B06}"/>
          </ac:spMkLst>
        </pc:spChg>
        <pc:spChg chg="add del mod">
          <ac:chgData name="Gopal Singh" userId="b68fab42bd18a38f" providerId="LiveId" clId="{120F44D9-F26F-49A6-9068-3C36FF4089C6}" dt="2026-06-26T06:07:41.876" v="252" actId="478"/>
          <ac:spMkLst>
            <pc:docMk/>
            <pc:sldMk cId="3346043664" sldId="258"/>
            <ac:spMk id="10" creationId="{AFD02247-AF0D-A1AC-789D-1C6915E25190}"/>
          </ac:spMkLst>
        </pc:spChg>
        <pc:picChg chg="mod">
          <ac:chgData name="Gopal Singh" userId="b68fab42bd18a38f" providerId="LiveId" clId="{120F44D9-F26F-49A6-9068-3C36FF4089C6}" dt="2026-06-26T07:07:52.459" v="654" actId="1076"/>
          <ac:picMkLst>
            <pc:docMk/>
            <pc:sldMk cId="3346043664" sldId="258"/>
            <ac:picMk id="7" creationId="{BDD9E267-1E9A-D4D7-C92D-BA54E14BDC9D}"/>
          </ac:picMkLst>
        </pc:picChg>
      </pc:sldChg>
      <pc:sldChg chg="modSp mod">
        <pc:chgData name="Gopal Singh" userId="b68fab42bd18a38f" providerId="LiveId" clId="{120F44D9-F26F-49A6-9068-3C36FF4089C6}" dt="2026-06-26T15:33:42.901" v="724" actId="20577"/>
        <pc:sldMkLst>
          <pc:docMk/>
          <pc:sldMk cId="1833551758" sldId="270"/>
        </pc:sldMkLst>
        <pc:spChg chg="mod">
          <ac:chgData name="Gopal Singh" userId="b68fab42bd18a38f" providerId="LiveId" clId="{120F44D9-F26F-49A6-9068-3C36FF4089C6}" dt="2026-06-26T15:33:34.581" v="720" actId="20577"/>
          <ac:spMkLst>
            <pc:docMk/>
            <pc:sldMk cId="1833551758" sldId="270"/>
            <ac:spMk id="6" creationId="{1CC8ABC8-E4C2-A719-9DBC-843D22CBE624}"/>
          </ac:spMkLst>
        </pc:spChg>
        <pc:graphicFrameChg chg="modGraphic">
          <ac:chgData name="Gopal Singh" userId="b68fab42bd18a38f" providerId="LiveId" clId="{120F44D9-F26F-49A6-9068-3C36FF4089C6}" dt="2026-06-26T15:33:42.901" v="724" actId="20577"/>
          <ac:graphicFrameMkLst>
            <pc:docMk/>
            <pc:sldMk cId="1833551758" sldId="270"/>
            <ac:graphicFrameMk id="5" creationId="{0EC211ED-CA3A-1288-4018-1ABEC43C45E3}"/>
          </ac:graphicFrameMkLst>
        </pc:graphicFrameChg>
      </pc:sldChg>
      <pc:sldChg chg="modSp del mod">
        <pc:chgData name="Gopal Singh" userId="b68fab42bd18a38f" providerId="LiveId" clId="{120F44D9-F26F-49A6-9068-3C36FF4089C6}" dt="2026-06-26T05:54:21.998" v="168" actId="2696"/>
        <pc:sldMkLst>
          <pc:docMk/>
          <pc:sldMk cId="2137440418" sldId="274"/>
        </pc:sldMkLst>
      </pc:sldChg>
      <pc:sldChg chg="addSp modSp mod ord">
        <pc:chgData name="Gopal Singh" userId="b68fab42bd18a38f" providerId="LiveId" clId="{120F44D9-F26F-49A6-9068-3C36FF4089C6}" dt="2026-06-25T11:08:56.044" v="92" actId="14100"/>
        <pc:sldMkLst>
          <pc:docMk/>
          <pc:sldMk cId="2052720262" sldId="275"/>
        </pc:sldMkLst>
        <pc:spChg chg="add mod">
          <ac:chgData name="Gopal Singh" userId="b68fab42bd18a38f" providerId="LiveId" clId="{120F44D9-F26F-49A6-9068-3C36FF4089C6}" dt="2026-06-25T11:08:56.044" v="92" actId="14100"/>
          <ac:spMkLst>
            <pc:docMk/>
            <pc:sldMk cId="2052720262" sldId="275"/>
            <ac:spMk id="3" creationId="{AEB80C79-8E78-D0B9-3A59-D26546C26469}"/>
          </ac:spMkLst>
        </pc:spChg>
        <pc:spChg chg="mod">
          <ac:chgData name="Gopal Singh" userId="b68fab42bd18a38f" providerId="LiveId" clId="{120F44D9-F26F-49A6-9068-3C36FF4089C6}" dt="2026-06-25T09:15:10.201" v="35" actId="20577"/>
          <ac:spMkLst>
            <pc:docMk/>
            <pc:sldMk cId="2052720262" sldId="275"/>
            <ac:spMk id="11" creationId="{B45F8B30-BA6B-55A2-BACC-004FE473EBF3}"/>
          </ac:spMkLst>
        </pc:spChg>
      </pc:sldChg>
      <pc:sldChg chg="addSp modSp mod">
        <pc:chgData name="Gopal Singh" userId="b68fab42bd18a38f" providerId="LiveId" clId="{120F44D9-F26F-49A6-9068-3C36FF4089C6}" dt="2026-06-26T07:06:50.996" v="642" actId="255"/>
        <pc:sldMkLst>
          <pc:docMk/>
          <pc:sldMk cId="3717591873" sldId="277"/>
        </pc:sldMkLst>
        <pc:spChg chg="add mod">
          <ac:chgData name="Gopal Singh" userId="b68fab42bd18a38f" providerId="LiveId" clId="{120F44D9-F26F-49A6-9068-3C36FF4089C6}" dt="2026-06-26T07:06:50.996" v="642" actId="255"/>
          <ac:spMkLst>
            <pc:docMk/>
            <pc:sldMk cId="3717591873" sldId="277"/>
            <ac:spMk id="7" creationId="{53A15329-8BB6-223B-6403-7C9DEAE1CC31}"/>
          </ac:spMkLst>
        </pc:spChg>
        <pc:picChg chg="mod">
          <ac:chgData name="Gopal Singh" userId="b68fab42bd18a38f" providerId="LiveId" clId="{120F44D9-F26F-49A6-9068-3C36FF4089C6}" dt="2026-06-26T07:03:49.521" v="575" actId="1076"/>
          <ac:picMkLst>
            <pc:docMk/>
            <pc:sldMk cId="3717591873" sldId="277"/>
            <ac:picMk id="2" creationId="{13543365-A63F-D69B-4BEB-084A41F0F97F}"/>
          </ac:picMkLst>
        </pc:picChg>
      </pc:sldChg>
      <pc:sldChg chg="modSp mod">
        <pc:chgData name="Gopal Singh" userId="b68fab42bd18a38f" providerId="LiveId" clId="{120F44D9-F26F-49A6-9068-3C36FF4089C6}" dt="2026-06-26T15:19:29.940" v="660" actId="20577"/>
        <pc:sldMkLst>
          <pc:docMk/>
          <pc:sldMk cId="1909673494" sldId="278"/>
        </pc:sldMkLst>
        <pc:spChg chg="mod">
          <ac:chgData name="Gopal Singh" userId="b68fab42bd18a38f" providerId="LiveId" clId="{120F44D9-F26F-49A6-9068-3C36FF4089C6}" dt="2026-06-26T15:19:29.940" v="660" actId="20577"/>
          <ac:spMkLst>
            <pc:docMk/>
            <pc:sldMk cId="1909673494" sldId="278"/>
            <ac:spMk id="5" creationId="{C7527729-52C8-1614-2987-E2565D157DCF}"/>
          </ac:spMkLst>
        </pc:spChg>
      </pc:sldChg>
      <pc:sldChg chg="modSp mod ord">
        <pc:chgData name="Gopal Singh" userId="b68fab42bd18a38f" providerId="LiveId" clId="{120F44D9-F26F-49A6-9068-3C36FF4089C6}" dt="2026-06-26T15:19:32.175" v="662"/>
        <pc:sldMkLst>
          <pc:docMk/>
          <pc:sldMk cId="606597429" sldId="279"/>
        </pc:sldMkLst>
        <pc:spChg chg="mod">
          <ac:chgData name="Gopal Singh" userId="b68fab42bd18a38f" providerId="LiveId" clId="{120F44D9-F26F-49A6-9068-3C36FF4089C6}" dt="2026-06-26T06:05:07.928" v="220" actId="1076"/>
          <ac:spMkLst>
            <pc:docMk/>
            <pc:sldMk cId="606597429" sldId="279"/>
            <ac:spMk id="4" creationId="{4323BE36-A514-2C43-206B-57161AEC6A7B}"/>
          </ac:spMkLst>
        </pc:spChg>
        <pc:spChg chg="mod">
          <ac:chgData name="Gopal Singh" userId="b68fab42bd18a38f" providerId="LiveId" clId="{120F44D9-F26F-49A6-9068-3C36FF4089C6}" dt="2026-06-25T09:28:38.328" v="62" actId="1076"/>
          <ac:spMkLst>
            <pc:docMk/>
            <pc:sldMk cId="606597429" sldId="279"/>
            <ac:spMk id="8" creationId="{703086A3-3756-E6DC-5E99-153696F6A504}"/>
          </ac:spMkLst>
        </pc:spChg>
        <pc:spChg chg="mod">
          <ac:chgData name="Gopal Singh" userId="b68fab42bd18a38f" providerId="LiveId" clId="{120F44D9-F26F-49A6-9068-3C36FF4089C6}" dt="2026-06-25T09:28:30.327" v="61" actId="1076"/>
          <ac:spMkLst>
            <pc:docMk/>
            <pc:sldMk cId="606597429" sldId="279"/>
            <ac:spMk id="11" creationId="{5C96651B-A54C-6313-A7E5-1DEBF95643F6}"/>
          </ac:spMkLst>
        </pc:spChg>
        <pc:spChg chg="mod">
          <ac:chgData name="Gopal Singh" userId="b68fab42bd18a38f" providerId="LiveId" clId="{120F44D9-F26F-49A6-9068-3C36FF4089C6}" dt="2026-06-26T07:03:27.087" v="573" actId="1076"/>
          <ac:spMkLst>
            <pc:docMk/>
            <pc:sldMk cId="606597429" sldId="279"/>
            <ac:spMk id="12" creationId="{53F3AD41-0821-A80B-37A3-FF6EFC0A8514}"/>
          </ac:spMkLst>
        </pc:spChg>
        <pc:picChg chg="mod">
          <ac:chgData name="Gopal Singh" userId="b68fab42bd18a38f" providerId="LiveId" clId="{120F44D9-F26F-49A6-9068-3C36FF4089C6}" dt="2026-06-25T09:28:25.333" v="60" actId="1076"/>
          <ac:picMkLst>
            <pc:docMk/>
            <pc:sldMk cId="606597429" sldId="279"/>
            <ac:picMk id="5" creationId="{35BB813E-F9B2-6C49-654A-38FF432F0F64}"/>
          </ac:picMkLst>
        </pc:picChg>
      </pc:sldChg>
      <pc:sldChg chg="modSp mod">
        <pc:chgData name="Gopal Singh" userId="b68fab42bd18a38f" providerId="LiveId" clId="{120F44D9-F26F-49A6-9068-3C36FF4089C6}" dt="2026-06-26T06:03:01.985" v="203" actId="20577"/>
        <pc:sldMkLst>
          <pc:docMk/>
          <pc:sldMk cId="3714303756" sldId="280"/>
        </pc:sldMkLst>
        <pc:spChg chg="mod">
          <ac:chgData name="Gopal Singh" userId="b68fab42bd18a38f" providerId="LiveId" clId="{120F44D9-F26F-49A6-9068-3C36FF4089C6}" dt="2026-06-26T06:03:01.985" v="203" actId="20577"/>
          <ac:spMkLst>
            <pc:docMk/>
            <pc:sldMk cId="3714303756" sldId="280"/>
            <ac:spMk id="3" creationId="{223CA66B-E502-FE39-260F-531A652231EC}"/>
          </ac:spMkLst>
        </pc:spChg>
      </pc:sldChg>
      <pc:sldChg chg="delSp modSp mod ord">
        <pc:chgData name="Gopal Singh" userId="b68fab42bd18a38f" providerId="LiveId" clId="{120F44D9-F26F-49A6-9068-3C36FF4089C6}" dt="2026-06-26T06:07:37.071" v="251" actId="478"/>
        <pc:sldMkLst>
          <pc:docMk/>
          <pc:sldMk cId="134885041" sldId="283"/>
        </pc:sldMkLst>
        <pc:spChg chg="del">
          <ac:chgData name="Gopal Singh" userId="b68fab42bd18a38f" providerId="LiveId" clId="{120F44D9-F26F-49A6-9068-3C36FF4089C6}" dt="2026-06-26T06:07:37.071" v="251" actId="478"/>
          <ac:spMkLst>
            <pc:docMk/>
            <pc:sldMk cId="134885041" sldId="283"/>
            <ac:spMk id="9" creationId="{9123BBBE-E852-56A4-ECA3-0DD1DA4A54E1}"/>
          </ac:spMkLst>
        </pc:spChg>
        <pc:graphicFrameChg chg="mod modGraphic">
          <ac:chgData name="Gopal Singh" userId="b68fab42bd18a38f" providerId="LiveId" clId="{120F44D9-F26F-49A6-9068-3C36FF4089C6}" dt="2026-06-25T09:12:32.381" v="11"/>
          <ac:graphicFrameMkLst>
            <pc:docMk/>
            <pc:sldMk cId="134885041" sldId="283"/>
            <ac:graphicFrameMk id="10" creationId="{6266B8D1-7CCA-2F6F-230D-1B6FFEBA909A}"/>
          </ac:graphicFrameMkLst>
        </pc:graphicFrameChg>
      </pc:sldChg>
      <pc:sldChg chg="addSp delSp modSp mod ord">
        <pc:chgData name="Gopal Singh" userId="b68fab42bd18a38f" providerId="LiveId" clId="{120F44D9-F26F-49A6-9068-3C36FF4089C6}" dt="2026-06-27T01:14:05.386" v="860" actId="113"/>
        <pc:sldMkLst>
          <pc:docMk/>
          <pc:sldMk cId="2296011628" sldId="284"/>
        </pc:sldMkLst>
        <pc:spChg chg="mod">
          <ac:chgData name="Gopal Singh" userId="b68fab42bd18a38f" providerId="LiveId" clId="{120F44D9-F26F-49A6-9068-3C36FF4089C6}" dt="2026-06-27T01:14:05.386" v="860" actId="113"/>
          <ac:spMkLst>
            <pc:docMk/>
            <pc:sldMk cId="2296011628" sldId="284"/>
            <ac:spMk id="12" creationId="{27F0A3A3-5D27-0107-BBE5-CD9420F7FAC3}"/>
          </ac:spMkLst>
        </pc:spChg>
        <pc:graphicFrameChg chg="add mod modGraphic">
          <ac:chgData name="Gopal Singh" userId="b68fab42bd18a38f" providerId="LiveId" clId="{120F44D9-F26F-49A6-9068-3C36FF4089C6}" dt="2026-06-26T15:31:00.141" v="710" actId="113"/>
          <ac:graphicFrameMkLst>
            <pc:docMk/>
            <pc:sldMk cId="2296011628" sldId="284"/>
            <ac:graphicFrameMk id="2" creationId="{B534BDD2-3C53-D876-FDC3-27B262A32513}"/>
          </ac:graphicFrameMkLst>
        </pc:graphicFrameChg>
        <pc:graphicFrameChg chg="del modGraphic">
          <ac:chgData name="Gopal Singh" userId="b68fab42bd18a38f" providerId="LiveId" clId="{120F44D9-F26F-49A6-9068-3C36FF4089C6}" dt="2026-06-26T15:28:35.831" v="680" actId="21"/>
          <ac:graphicFrameMkLst>
            <pc:docMk/>
            <pc:sldMk cId="2296011628" sldId="284"/>
            <ac:graphicFrameMk id="10" creationId="{16697FFD-4CB2-5823-872E-84F33A9CFD48}"/>
          </ac:graphicFrameMkLst>
        </pc:graphicFrameChg>
      </pc:sldChg>
      <pc:sldChg chg="modSp mod ord">
        <pc:chgData name="Gopal Singh" userId="b68fab42bd18a38f" providerId="LiveId" clId="{120F44D9-F26F-49A6-9068-3C36FF4089C6}" dt="2026-06-25T09:18:44.092" v="55" actId="20578"/>
        <pc:sldMkLst>
          <pc:docMk/>
          <pc:sldMk cId="4038622944" sldId="286"/>
        </pc:sldMkLst>
        <pc:spChg chg="mod">
          <ac:chgData name="Gopal Singh" userId="b68fab42bd18a38f" providerId="LiveId" clId="{120F44D9-F26F-49A6-9068-3C36FF4089C6}" dt="2026-06-25T09:13:26.246" v="19" actId="113"/>
          <ac:spMkLst>
            <pc:docMk/>
            <pc:sldMk cId="4038622944" sldId="286"/>
            <ac:spMk id="3" creationId="{A82A0CE3-D811-D65E-A6FC-121EA3963ED9}"/>
          </ac:spMkLst>
        </pc:spChg>
      </pc:sldChg>
      <pc:sldChg chg="modSp mod">
        <pc:chgData name="Gopal Singh" userId="b68fab42bd18a38f" providerId="LiveId" clId="{120F44D9-F26F-49A6-9068-3C36FF4089C6}" dt="2026-06-26T06:08:45.126" v="270" actId="20577"/>
        <pc:sldMkLst>
          <pc:docMk/>
          <pc:sldMk cId="122527735" sldId="288"/>
        </pc:sldMkLst>
        <pc:spChg chg="mod">
          <ac:chgData name="Gopal Singh" userId="b68fab42bd18a38f" providerId="LiveId" clId="{120F44D9-F26F-49A6-9068-3C36FF4089C6}" dt="2026-06-25T09:13:44.190" v="23" actId="255"/>
          <ac:spMkLst>
            <pc:docMk/>
            <pc:sldMk cId="122527735" sldId="288"/>
            <ac:spMk id="2" creationId="{618BFDA8-72A0-CFFE-1965-D67EBD113EA4}"/>
          </ac:spMkLst>
        </pc:spChg>
        <pc:spChg chg="mod">
          <ac:chgData name="Gopal Singh" userId="b68fab42bd18a38f" providerId="LiveId" clId="{120F44D9-F26F-49A6-9068-3C36FF4089C6}" dt="2026-06-25T09:13:44.190" v="23" actId="255"/>
          <ac:spMkLst>
            <pc:docMk/>
            <pc:sldMk cId="122527735" sldId="288"/>
            <ac:spMk id="8" creationId="{D54C1695-863A-6B43-6226-F76ABD4CBD6A}"/>
          </ac:spMkLst>
        </pc:spChg>
        <pc:spChg chg="mod">
          <ac:chgData name="Gopal Singh" userId="b68fab42bd18a38f" providerId="LiveId" clId="{120F44D9-F26F-49A6-9068-3C36FF4089C6}" dt="2026-06-25T09:13:44.190" v="23" actId="255"/>
          <ac:spMkLst>
            <pc:docMk/>
            <pc:sldMk cId="122527735" sldId="288"/>
            <ac:spMk id="9" creationId="{0E8B0197-CD65-6E7E-3F09-9BC395BB8879}"/>
          </ac:spMkLst>
        </pc:spChg>
        <pc:spChg chg="mod">
          <ac:chgData name="Gopal Singh" userId="b68fab42bd18a38f" providerId="LiveId" clId="{120F44D9-F26F-49A6-9068-3C36FF4089C6}" dt="2026-06-26T06:08:45.126" v="270" actId="20577"/>
          <ac:spMkLst>
            <pc:docMk/>
            <pc:sldMk cId="122527735" sldId="288"/>
            <ac:spMk id="10" creationId="{55D187D5-D3E4-98C4-BD32-4EB6567AE249}"/>
          </ac:spMkLst>
        </pc:spChg>
      </pc:sldChg>
      <pc:sldChg chg="addSp delSp modSp mod ord">
        <pc:chgData name="Gopal Singh" userId="b68fab42bd18a38f" providerId="LiveId" clId="{120F44D9-F26F-49A6-9068-3C36FF4089C6}" dt="2026-06-26T15:42:24.048" v="799"/>
        <pc:sldMkLst>
          <pc:docMk/>
          <pc:sldMk cId="3202572027" sldId="291"/>
        </pc:sldMkLst>
        <pc:spChg chg="mod">
          <ac:chgData name="Gopal Singh" userId="b68fab42bd18a38f" providerId="LiveId" clId="{120F44D9-F26F-49A6-9068-3C36FF4089C6}" dt="2026-06-26T15:33:58.873" v="728" actId="20577"/>
          <ac:spMkLst>
            <pc:docMk/>
            <pc:sldMk cId="3202572027" sldId="291"/>
            <ac:spMk id="3" creationId="{51938F0C-5C05-F641-1674-820DB3433C01}"/>
          </ac:spMkLst>
        </pc:spChg>
        <pc:spChg chg="mod">
          <ac:chgData name="Gopal Singh" userId="b68fab42bd18a38f" providerId="LiveId" clId="{120F44D9-F26F-49A6-9068-3C36FF4089C6}" dt="2026-06-26T15:36:38.785" v="758" actId="20577"/>
          <ac:spMkLst>
            <pc:docMk/>
            <pc:sldMk cId="3202572027" sldId="291"/>
            <ac:spMk id="4" creationId="{00105989-8726-94B0-DCBB-8B3F79EEAB38}"/>
          </ac:spMkLst>
        </pc:spChg>
        <pc:spChg chg="add del mod">
          <ac:chgData name="Gopal Singh" userId="b68fab42bd18a38f" providerId="LiveId" clId="{120F44D9-F26F-49A6-9068-3C36FF4089C6}" dt="2026-06-26T15:41:17.994" v="797" actId="20577"/>
          <ac:spMkLst>
            <pc:docMk/>
            <pc:sldMk cId="3202572027" sldId="291"/>
            <ac:spMk id="5" creationId="{656B03A7-D350-4B2C-DACC-26F4A3CCDFEF}"/>
          </ac:spMkLst>
        </pc:spChg>
        <pc:spChg chg="mod">
          <ac:chgData name="Gopal Singh" userId="b68fab42bd18a38f" providerId="LiveId" clId="{120F44D9-F26F-49A6-9068-3C36FF4089C6}" dt="2026-06-26T15:39:33.993" v="787" actId="1076"/>
          <ac:spMkLst>
            <pc:docMk/>
            <pc:sldMk cId="3202572027" sldId="291"/>
            <ac:spMk id="6" creationId="{D1C4F07D-7347-C278-449D-310391C5CA73}"/>
          </ac:spMkLst>
        </pc:spChg>
        <pc:spChg chg="mod">
          <ac:chgData name="Gopal Singh" userId="b68fab42bd18a38f" providerId="LiveId" clId="{120F44D9-F26F-49A6-9068-3C36FF4089C6}" dt="2026-06-26T05:52:07.368" v="166" actId="20577"/>
          <ac:spMkLst>
            <pc:docMk/>
            <pc:sldMk cId="3202572027" sldId="291"/>
            <ac:spMk id="8" creationId="{32093B6A-91A0-2D0B-0268-2984240CF8CE}"/>
          </ac:spMkLst>
        </pc:spChg>
        <pc:spChg chg="add mod">
          <ac:chgData name="Gopal Singh" userId="b68fab42bd18a38f" providerId="LiveId" clId="{120F44D9-F26F-49A6-9068-3C36FF4089C6}" dt="2026-06-26T15:40:01.998" v="789" actId="1076"/>
          <ac:spMkLst>
            <pc:docMk/>
            <pc:sldMk cId="3202572027" sldId="291"/>
            <ac:spMk id="9" creationId="{00496EC1-8376-2D22-0E68-6563FCDB4FB1}"/>
          </ac:spMkLst>
        </pc:spChg>
        <pc:spChg chg="mod">
          <ac:chgData name="Gopal Singh" userId="b68fab42bd18a38f" providerId="LiveId" clId="{120F44D9-F26F-49A6-9068-3C36FF4089C6}" dt="2026-06-26T15:39:02.658" v="779" actId="14100"/>
          <ac:spMkLst>
            <pc:docMk/>
            <pc:sldMk cId="3202572027" sldId="291"/>
            <ac:spMk id="15" creationId="{40F4A314-D676-8AFE-6FFE-F916472A99D6}"/>
          </ac:spMkLst>
        </pc:spChg>
        <pc:spChg chg="mod">
          <ac:chgData name="Gopal Singh" userId="b68fab42bd18a38f" providerId="LiveId" clId="{120F44D9-F26F-49A6-9068-3C36FF4089C6}" dt="2026-06-26T15:38:57.983" v="772" actId="1076"/>
          <ac:spMkLst>
            <pc:docMk/>
            <pc:sldMk cId="3202572027" sldId="291"/>
            <ac:spMk id="21" creationId="{23C300FE-C567-4F9D-7024-D793F1A09D43}"/>
          </ac:spMkLst>
        </pc:spChg>
        <pc:spChg chg="mod">
          <ac:chgData name="Gopal Singh" userId="b68fab42bd18a38f" providerId="LiveId" clId="{120F44D9-F26F-49A6-9068-3C36FF4089C6}" dt="2026-06-26T15:40:29.070" v="792" actId="1076"/>
          <ac:spMkLst>
            <pc:docMk/>
            <pc:sldMk cId="3202572027" sldId="291"/>
            <ac:spMk id="22" creationId="{5B41BB89-2DAE-6DF4-E651-A7419EB70F4A}"/>
          </ac:spMkLst>
        </pc:spChg>
        <pc:spChg chg="mod">
          <ac:chgData name="Gopal Singh" userId="b68fab42bd18a38f" providerId="LiveId" clId="{120F44D9-F26F-49A6-9068-3C36FF4089C6}" dt="2026-06-26T15:34:24.976" v="732" actId="20577"/>
          <ac:spMkLst>
            <pc:docMk/>
            <pc:sldMk cId="3202572027" sldId="291"/>
            <ac:spMk id="24" creationId="{15B6B132-5B77-8EF5-2CB5-55D7465E459E}"/>
          </ac:spMkLst>
        </pc:spChg>
        <pc:spChg chg="mod">
          <ac:chgData name="Gopal Singh" userId="b68fab42bd18a38f" providerId="LiveId" clId="{120F44D9-F26F-49A6-9068-3C36FF4089C6}" dt="2026-06-26T15:40:33.336" v="793" actId="1076"/>
          <ac:spMkLst>
            <pc:docMk/>
            <pc:sldMk cId="3202572027" sldId="291"/>
            <ac:spMk id="26" creationId="{E26B1230-773F-9880-E75C-9FC6B116C1F7}"/>
          </ac:spMkLst>
        </pc:spChg>
        <pc:spChg chg="mod">
          <ac:chgData name="Gopal Singh" userId="b68fab42bd18a38f" providerId="LiveId" clId="{120F44D9-F26F-49A6-9068-3C36FF4089C6}" dt="2026-06-26T15:40:47.579" v="794" actId="1076"/>
          <ac:spMkLst>
            <pc:docMk/>
            <pc:sldMk cId="3202572027" sldId="291"/>
            <ac:spMk id="27" creationId="{2D0EFEFE-0F7F-A0C1-3753-40460FC61079}"/>
          </ac:spMkLst>
        </pc:spChg>
        <pc:spChg chg="mod">
          <ac:chgData name="Gopal Singh" userId="b68fab42bd18a38f" providerId="LiveId" clId="{120F44D9-F26F-49A6-9068-3C36FF4089C6}" dt="2026-06-26T05:52:12.848" v="167" actId="1076"/>
          <ac:spMkLst>
            <pc:docMk/>
            <pc:sldMk cId="3202572027" sldId="291"/>
            <ac:spMk id="31" creationId="{DE4F892D-4DF6-A77B-0265-7FB3D33A4FCF}"/>
          </ac:spMkLst>
        </pc:spChg>
        <pc:spChg chg="mod">
          <ac:chgData name="Gopal Singh" userId="b68fab42bd18a38f" providerId="LiveId" clId="{120F44D9-F26F-49A6-9068-3C36FF4089C6}" dt="2026-06-25T09:14:37.830" v="25" actId="313"/>
          <ac:spMkLst>
            <pc:docMk/>
            <pc:sldMk cId="3202572027" sldId="291"/>
            <ac:spMk id="32" creationId="{73201115-2393-5259-93A8-989070199608}"/>
          </ac:spMkLst>
        </pc:spChg>
      </pc:sldChg>
      <pc:sldChg chg="addSp delSp modSp mod ord">
        <pc:chgData name="Gopal Singh" userId="b68fab42bd18a38f" providerId="LiveId" clId="{120F44D9-F26F-49A6-9068-3C36FF4089C6}" dt="2026-06-27T01:12:02.199" v="855" actId="1076"/>
        <pc:sldMkLst>
          <pc:docMk/>
          <pc:sldMk cId="3813996844" sldId="296"/>
        </pc:sldMkLst>
        <pc:spChg chg="add del mod">
          <ac:chgData name="Gopal Singh" userId="b68fab42bd18a38f" providerId="LiveId" clId="{120F44D9-F26F-49A6-9068-3C36FF4089C6}" dt="2026-06-27T01:12:02.199" v="855" actId="1076"/>
          <ac:spMkLst>
            <pc:docMk/>
            <pc:sldMk cId="3813996844" sldId="296"/>
            <ac:spMk id="4" creationId="{D9B6FE9E-2B1A-00BC-CBDC-61170AD23B45}"/>
          </ac:spMkLst>
        </pc:spChg>
        <pc:spChg chg="add">
          <ac:chgData name="Gopal Singh" userId="b68fab42bd18a38f" providerId="LiveId" clId="{120F44D9-F26F-49A6-9068-3C36FF4089C6}" dt="2026-06-25T10:45:12.829" v="75" actId="22"/>
          <ac:spMkLst>
            <pc:docMk/>
            <pc:sldMk cId="3813996844" sldId="296"/>
            <ac:spMk id="6" creationId="{24ECBF00-7FB4-199B-1BCF-75A95FE34375}"/>
          </ac:spMkLst>
        </pc:spChg>
      </pc:sldChg>
      <pc:sldChg chg="addSp modSp mod">
        <pc:chgData name="Gopal Singh" userId="b68fab42bd18a38f" providerId="LiveId" clId="{120F44D9-F26F-49A6-9068-3C36FF4089C6}" dt="2026-06-26T05:17:04.970" v="158" actId="21"/>
        <pc:sldMkLst>
          <pc:docMk/>
          <pc:sldMk cId="1768886038" sldId="297"/>
        </pc:sldMkLst>
        <pc:spChg chg="mod">
          <ac:chgData name="Gopal Singh" userId="b68fab42bd18a38f" providerId="LiveId" clId="{120F44D9-F26F-49A6-9068-3C36FF4089C6}" dt="2026-06-26T05:17:00.396" v="157" actId="20577"/>
          <ac:spMkLst>
            <pc:docMk/>
            <pc:sldMk cId="1768886038" sldId="297"/>
            <ac:spMk id="2" creationId="{52731530-B4B5-8374-3F1B-9A791AC49907}"/>
          </ac:spMkLst>
        </pc:spChg>
        <pc:spChg chg="mod">
          <ac:chgData name="Gopal Singh" userId="b68fab42bd18a38f" providerId="LiveId" clId="{120F44D9-F26F-49A6-9068-3C36FF4089C6}" dt="2026-06-26T05:17:04.970" v="158" actId="21"/>
          <ac:spMkLst>
            <pc:docMk/>
            <pc:sldMk cId="1768886038" sldId="297"/>
            <ac:spMk id="3" creationId="{3000651B-0F68-F949-645C-3C211B6A2E40}"/>
          </ac:spMkLst>
        </pc:spChg>
        <pc:spChg chg="add mod">
          <ac:chgData name="Gopal Singh" userId="b68fab42bd18a38f" providerId="LiveId" clId="{120F44D9-F26F-49A6-9068-3C36FF4089C6}" dt="2026-06-26T05:10:13.239" v="132" actId="12"/>
          <ac:spMkLst>
            <pc:docMk/>
            <pc:sldMk cId="1768886038" sldId="297"/>
            <ac:spMk id="5" creationId="{F0160786-B03A-4226-F0CA-EAC72F0F7E37}"/>
          </ac:spMkLst>
        </pc:spChg>
      </pc:sldChg>
      <pc:sldChg chg="modSp mod">
        <pc:chgData name="Gopal Singh" userId="b68fab42bd18a38f" providerId="LiveId" clId="{120F44D9-F26F-49A6-9068-3C36FF4089C6}" dt="2026-06-25T09:16:18.166" v="39" actId="1076"/>
        <pc:sldMkLst>
          <pc:docMk/>
          <pc:sldMk cId="1770981796" sldId="298"/>
        </pc:sldMkLst>
        <pc:spChg chg="mod">
          <ac:chgData name="Gopal Singh" userId="b68fab42bd18a38f" providerId="LiveId" clId="{120F44D9-F26F-49A6-9068-3C36FF4089C6}" dt="2026-06-25T09:16:18.166" v="39" actId="1076"/>
          <ac:spMkLst>
            <pc:docMk/>
            <pc:sldMk cId="1770981796" sldId="298"/>
            <ac:spMk id="4" creationId="{6C38796A-243A-D36D-EAFE-EB7F68707EA7}"/>
          </ac:spMkLst>
        </pc:spChg>
      </pc:sldChg>
      <pc:sldChg chg="addSp delSp modSp new mod">
        <pc:chgData name="Gopal Singh" userId="b68fab42bd18a38f" providerId="LiveId" clId="{120F44D9-F26F-49A6-9068-3C36FF4089C6}" dt="2026-06-26T15:45:54.485" v="806" actId="1076"/>
        <pc:sldMkLst>
          <pc:docMk/>
          <pc:sldMk cId="2022609178" sldId="299"/>
        </pc:sldMkLst>
        <pc:spChg chg="add del mod">
          <ac:chgData name="Gopal Singh" userId="b68fab42bd18a38f" providerId="LiveId" clId="{120F44D9-F26F-49A6-9068-3C36FF4089C6}" dt="2026-06-26T05:16:57.358" v="156" actId="47"/>
          <ac:spMkLst>
            <pc:docMk/>
            <pc:sldMk cId="2022609178" sldId="299"/>
            <ac:spMk id="2" creationId="{BBE98732-2B49-84C2-D5D7-5643B1F2A053}"/>
          </ac:spMkLst>
        </pc:spChg>
        <pc:spChg chg="add mod">
          <ac:chgData name="Gopal Singh" userId="b68fab42bd18a38f" providerId="LiveId" clId="{120F44D9-F26F-49A6-9068-3C36FF4089C6}" dt="2026-06-26T15:45:54.485" v="806" actId="1076"/>
          <ac:spMkLst>
            <pc:docMk/>
            <pc:sldMk cId="2022609178" sldId="299"/>
            <ac:spMk id="4" creationId="{4364EB90-791F-8C2D-F2F1-74C4F7AB2105}"/>
          </ac:spMkLst>
        </pc:spChg>
        <pc:graphicFrameChg chg="add del modGraphic">
          <ac:chgData name="Gopal Singh" userId="b68fab42bd18a38f" providerId="LiveId" clId="{120F44D9-F26F-49A6-9068-3C36FF4089C6}" dt="2026-06-26T15:43:54.301" v="801" actId="27309"/>
          <ac:graphicFrameMkLst>
            <pc:docMk/>
            <pc:sldMk cId="2022609178" sldId="299"/>
            <ac:graphicFrameMk id="5" creationId="{8F018853-A059-FE97-F2A6-2607BB2DBBB6}"/>
          </ac:graphicFrameMkLst>
        </pc:graphicFrameChg>
      </pc:sldChg>
      <pc:sldChg chg="addSp delSp modSp new mod ord">
        <pc:chgData name="Gopal Singh" userId="b68fab42bd18a38f" providerId="LiveId" clId="{120F44D9-F26F-49A6-9068-3C36FF4089C6}" dt="2026-06-26T07:03:04.532" v="572" actId="114"/>
        <pc:sldMkLst>
          <pc:docMk/>
          <pc:sldMk cId="3048986046" sldId="300"/>
        </pc:sldMkLst>
        <pc:spChg chg="add mod">
          <ac:chgData name="Gopal Singh" userId="b68fab42bd18a38f" providerId="LiveId" clId="{120F44D9-F26F-49A6-9068-3C36FF4089C6}" dt="2026-06-26T07:03:04.532" v="572" actId="114"/>
          <ac:spMkLst>
            <pc:docMk/>
            <pc:sldMk cId="3048986046" sldId="300"/>
            <ac:spMk id="2" creationId="{AEC783A4-AB2B-09D9-329E-1C394EE4C9DC}"/>
          </ac:spMkLst>
        </pc:spChg>
        <pc:picChg chg="add del mod modCrop">
          <ac:chgData name="Gopal Singh" userId="b68fab42bd18a38f" providerId="LiveId" clId="{120F44D9-F26F-49A6-9068-3C36FF4089C6}" dt="2026-06-26T06:23:37.437" v="327" actId="478"/>
          <ac:picMkLst>
            <pc:docMk/>
            <pc:sldMk cId="3048986046" sldId="300"/>
            <ac:picMk id="4" creationId="{64A437C7-F9BF-1FB4-E2E7-E117DBEDDDF6}"/>
          </ac:picMkLst>
        </pc:picChg>
      </pc:sldChg>
      <pc:sldChg chg="addSp modSp new mod ord">
        <pc:chgData name="Gopal Singh" userId="b68fab42bd18a38f" providerId="LiveId" clId="{120F44D9-F26F-49A6-9068-3C36FF4089C6}" dt="2026-06-26T06:17:49.251" v="320"/>
        <pc:sldMkLst>
          <pc:docMk/>
          <pc:sldMk cId="2139693045" sldId="301"/>
        </pc:sldMkLst>
        <pc:spChg chg="add mod">
          <ac:chgData name="Gopal Singh" userId="b68fab42bd18a38f" providerId="LiveId" clId="{120F44D9-F26F-49A6-9068-3C36FF4089C6}" dt="2026-06-26T06:14:18.902" v="316" actId="1076"/>
          <ac:spMkLst>
            <pc:docMk/>
            <pc:sldMk cId="2139693045" sldId="301"/>
            <ac:spMk id="2" creationId="{92A24E55-2049-6D72-8B5A-C7236D4B7EE7}"/>
          </ac:spMkLst>
        </pc:spChg>
        <pc:spChg chg="add mod">
          <ac:chgData name="Gopal Singh" userId="b68fab42bd18a38f" providerId="LiveId" clId="{120F44D9-F26F-49A6-9068-3C36FF4089C6}" dt="2026-06-26T06:14:30.256" v="318" actId="1076"/>
          <ac:spMkLst>
            <pc:docMk/>
            <pc:sldMk cId="2139693045" sldId="301"/>
            <ac:spMk id="4" creationId="{E37905B4-A6EA-C129-F9D3-6F956BF27EDE}"/>
          </ac:spMkLst>
        </pc:spChg>
      </pc:sldChg>
      <pc:sldChg chg="new del">
        <pc:chgData name="Gopal Singh" userId="b68fab42bd18a38f" providerId="LiveId" clId="{120F44D9-F26F-49A6-9068-3C36FF4089C6}" dt="2026-06-26T06:11:02.399" v="290" actId="680"/>
        <pc:sldMkLst>
          <pc:docMk/>
          <pc:sldMk cId="3829349026" sldId="302"/>
        </pc:sldMkLst>
      </pc:sldChg>
      <pc:sldChg chg="addSp delSp modSp new mod">
        <pc:chgData name="Gopal Singh" userId="b68fab42bd18a38f" providerId="LiveId" clId="{120F44D9-F26F-49A6-9068-3C36FF4089C6}" dt="2026-06-27T01:13:21.497" v="857" actId="20577"/>
        <pc:sldMkLst>
          <pc:docMk/>
          <pc:sldMk cId="4003335568" sldId="302"/>
        </pc:sldMkLst>
        <pc:spChg chg="add del mod">
          <ac:chgData name="Gopal Singh" userId="b68fab42bd18a38f" providerId="LiveId" clId="{120F44D9-F26F-49A6-9068-3C36FF4089C6}" dt="2026-06-27T01:13:21.497" v="857" actId="20577"/>
          <ac:spMkLst>
            <pc:docMk/>
            <pc:sldMk cId="4003335568" sldId="302"/>
            <ac:spMk id="4" creationId="{AB1DF9FA-D9A9-393C-DF3E-1B56705D60D8}"/>
          </ac:spMkLst>
        </pc:spChg>
        <pc:spChg chg="add">
          <ac:chgData name="Gopal Singh" userId="b68fab42bd18a38f" providerId="LiveId" clId="{120F44D9-F26F-49A6-9068-3C36FF4089C6}" dt="2026-06-27T01:05:48.437" v="830" actId="22"/>
          <ac:spMkLst>
            <pc:docMk/>
            <pc:sldMk cId="4003335568" sldId="302"/>
            <ac:spMk id="6" creationId="{8469D5B7-F84D-6679-F353-A6E166437333}"/>
          </ac:spMkLst>
        </pc:spChg>
        <pc:graphicFrameChg chg="add mod">
          <ac:chgData name="Gopal Singh" userId="b68fab42bd18a38f" providerId="LiveId" clId="{120F44D9-F26F-49A6-9068-3C36FF4089C6}" dt="2026-06-27T01:04:40.560" v="820"/>
          <ac:graphicFrameMkLst>
            <pc:docMk/>
            <pc:sldMk cId="4003335568" sldId="302"/>
            <ac:graphicFrameMk id="2" creationId="{A75C50C4-2142-6933-EBEB-48DE67C9B1DB}"/>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ab6297b63fa537fb/Desktop/2026/students/Gopal/06.06.26%20Gopal%20(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Sheet3!$G$2</c:f>
              <c:strCache>
                <c:ptCount val="1"/>
                <c:pt idx="0">
                  <c:v>Non-reaction</c:v>
                </c:pt>
              </c:strCache>
            </c:strRef>
          </c:tx>
          <c:spPr>
            <a:solidFill>
              <a:schemeClr val="accent1"/>
            </a:solidFill>
            <a:ln>
              <a:noFill/>
            </a:ln>
            <a:effectLst/>
          </c:spPr>
          <c:invertIfNegative val="0"/>
          <c:cat>
            <c:strRef>
              <c:f>Sheet3!$H$1:$J$1</c:f>
              <c:strCache>
                <c:ptCount val="3"/>
                <c:pt idx="0">
                  <c:v>16S</c:v>
                </c:pt>
                <c:pt idx="1">
                  <c:v>EsxA</c:v>
                </c:pt>
                <c:pt idx="2">
                  <c:v>Hsp18</c:v>
                </c:pt>
              </c:strCache>
            </c:strRef>
          </c:cat>
          <c:val>
            <c:numRef>
              <c:f>Sheet3!$H$2:$J$2</c:f>
              <c:numCache>
                <c:formatCode>General</c:formatCode>
                <c:ptCount val="3"/>
                <c:pt idx="0">
                  <c:v>17882.416000000005</c:v>
                </c:pt>
                <c:pt idx="1">
                  <c:v>87.717333333333343</c:v>
                </c:pt>
                <c:pt idx="2">
                  <c:v>37.570307692307694</c:v>
                </c:pt>
              </c:numCache>
            </c:numRef>
          </c:val>
          <c:extLst>
            <c:ext xmlns:c16="http://schemas.microsoft.com/office/drawing/2014/chart" uri="{C3380CC4-5D6E-409C-BE32-E72D297353CC}">
              <c16:uniqueId val="{00000000-2146-4F5B-B5EA-0A3EB32FC9BA}"/>
            </c:ext>
          </c:extLst>
        </c:ser>
        <c:ser>
          <c:idx val="1"/>
          <c:order val="1"/>
          <c:tx>
            <c:strRef>
              <c:f>Sheet3!$G$3</c:f>
              <c:strCache>
                <c:ptCount val="1"/>
                <c:pt idx="0">
                  <c:v>Reaction</c:v>
                </c:pt>
              </c:strCache>
            </c:strRef>
          </c:tx>
          <c:spPr>
            <a:solidFill>
              <a:schemeClr val="accent2"/>
            </a:solidFill>
            <a:ln>
              <a:noFill/>
            </a:ln>
            <a:effectLst/>
          </c:spPr>
          <c:invertIfNegative val="0"/>
          <c:cat>
            <c:strRef>
              <c:f>Sheet3!$H$1:$J$1</c:f>
              <c:strCache>
                <c:ptCount val="3"/>
                <c:pt idx="0">
                  <c:v>16S</c:v>
                </c:pt>
                <c:pt idx="1">
                  <c:v>EsxA</c:v>
                </c:pt>
                <c:pt idx="2">
                  <c:v>Hsp18</c:v>
                </c:pt>
              </c:strCache>
            </c:strRef>
          </c:cat>
          <c:val>
            <c:numRef>
              <c:f>Sheet3!$H$3:$J$3</c:f>
              <c:numCache>
                <c:formatCode>General</c:formatCode>
                <c:ptCount val="3"/>
                <c:pt idx="0">
                  <c:v>33573.525999999998</c:v>
                </c:pt>
                <c:pt idx="1">
                  <c:v>119.49249999999999</c:v>
                </c:pt>
                <c:pt idx="2">
                  <c:v>100.31427777777779</c:v>
                </c:pt>
              </c:numCache>
            </c:numRef>
          </c:val>
          <c:extLst>
            <c:ext xmlns:c16="http://schemas.microsoft.com/office/drawing/2014/chart" uri="{C3380CC4-5D6E-409C-BE32-E72D297353CC}">
              <c16:uniqueId val="{00000001-2146-4F5B-B5EA-0A3EB32FC9BA}"/>
            </c:ext>
          </c:extLst>
        </c:ser>
        <c:dLbls>
          <c:showLegendKey val="0"/>
          <c:showVal val="0"/>
          <c:showCatName val="0"/>
          <c:showSerName val="0"/>
          <c:showPercent val="0"/>
          <c:showBubbleSize val="0"/>
        </c:dLbls>
        <c:gapWidth val="267"/>
        <c:overlap val="-43"/>
        <c:axId val="1210670928"/>
        <c:axId val="1210670448"/>
      </c:barChart>
      <c:catAx>
        <c:axId val="121067092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1210670448"/>
        <c:crosses val="autoZero"/>
        <c:auto val="1"/>
        <c:lblAlgn val="ctr"/>
        <c:lblOffset val="100"/>
        <c:noMultiLvlLbl val="0"/>
      </c:catAx>
      <c:valAx>
        <c:axId val="1210670448"/>
        <c:scaling>
          <c:logBase val="10"/>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IN"/>
                  <a:t>Copy</a:t>
                </a:r>
                <a:r>
                  <a:rPr lang="en-IN" baseline="0"/>
                  <a:t> number of gene </a:t>
                </a:r>
                <a:endParaRPr lang="en-IN"/>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210670928"/>
        <c:crosses val="autoZero"/>
        <c:crossBetween val="between"/>
      </c:valAx>
      <c:dTable>
        <c:showHorzBorder val="1"/>
        <c:showVertBorder val="1"/>
        <c:showOutline val="1"/>
        <c:showKeys val="1"/>
        <c:spPr>
          <a:noFill/>
          <a:ln w="9525" cap="flat" cmpd="sng" algn="ctr">
            <a:solidFill>
              <a:schemeClr val="dk1">
                <a:lumMod val="15000"/>
                <a:lumOff val="85000"/>
              </a:schemeClr>
            </a:solidFill>
            <a:round/>
          </a:ln>
          <a:effectLst/>
        </c:spPr>
        <c:txPr>
          <a:bodyPr rot="0" spcFirstLastPara="1" vertOverflow="ellipsis" vert="horz" wrap="square" anchor="ctr" anchorCtr="1"/>
          <a:lstStyle/>
          <a:p>
            <a:pPr rtl="0">
              <a:defRPr sz="800" b="0" i="0" u="none" strike="noStrike" kern="1200" baseline="0">
                <a:solidFill>
                  <a:schemeClr val="dk1">
                    <a:lumMod val="65000"/>
                    <a:lumOff val="35000"/>
                  </a:schemeClr>
                </a:solidFill>
                <a:latin typeface="+mn-lt"/>
                <a:ea typeface="+mn-ea"/>
                <a:cs typeface="+mn-cs"/>
              </a:defRPr>
            </a:pPr>
            <a:endParaRPr lang="en-US"/>
          </a:p>
        </c:txPr>
      </c:dTable>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D3B4D7-308E-4400-ADB0-373F7B6C9AB6}" type="datetimeFigureOut">
              <a:rPr lang="en-IN" smtClean="0"/>
              <a:t>27-06-2026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7C10B9-0067-4DA0-8EAB-000F6C27D064}" type="slidenum">
              <a:rPr lang="en-IN" smtClean="0"/>
              <a:t>‹#›</a:t>
            </a:fld>
            <a:endParaRPr lang="en-IN"/>
          </a:p>
        </p:txBody>
      </p:sp>
    </p:spTree>
    <p:extLst>
      <p:ext uri="{BB962C8B-B14F-4D97-AF65-F5344CB8AC3E}">
        <p14:creationId xmlns:p14="http://schemas.microsoft.com/office/powerpoint/2010/main" val="343538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CF26-C4C2-0228-4839-19D0F491A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9BE11-4080-7373-B8B2-57ABE7856ED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A40B69F-6982-1EB0-6E8B-887D700531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6CD313-EB44-4CAE-8E73-6E99F647CEBC}"/>
              </a:ext>
            </a:extLst>
          </p:cNvPr>
          <p:cNvSpPr>
            <a:spLocks noGrp="1"/>
          </p:cNvSpPr>
          <p:nvPr>
            <p:ph type="sldNum" sz="quarter" idx="5"/>
          </p:nvPr>
        </p:nvSpPr>
        <p:spPr/>
        <p:txBody>
          <a:bodyPr/>
          <a:lstStyle/>
          <a:p>
            <a:fld id="{2A7C10B9-0067-4DA0-8EAB-000F6C27D064}" type="slidenum">
              <a:rPr lang="en-IN" smtClean="0"/>
              <a:t>1</a:t>
            </a:fld>
            <a:endParaRPr lang="en-IN"/>
          </a:p>
        </p:txBody>
      </p:sp>
    </p:spTree>
    <p:extLst>
      <p:ext uri="{BB962C8B-B14F-4D97-AF65-F5344CB8AC3E}">
        <p14:creationId xmlns:p14="http://schemas.microsoft.com/office/powerpoint/2010/main" val="1486941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4589-C9E5-6140-7DEB-C4AFCF7E136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2EDAD28E-7C03-4762-4D19-2D2F71D5049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44B74E0-1222-0249-5EC8-5438529AE571}"/>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9BBCCC2D-8A75-25A3-8823-6EA6FB9816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302B2-DFDE-F370-0D0E-2929E90DB4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625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60292-6364-167E-5C4C-837A1DB8F2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B37992-446C-2859-F083-AB1B642648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6D5433-3A2F-D15F-C2B3-E202AB7D321F}"/>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032B6E17-E532-2993-2A0C-33F9ED6CC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EF9CC-188B-2182-737D-7C2243B8CDB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7868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AD5B-EB8F-4D03-A266-ADF870FB169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545DED-3141-A560-579A-115B0B0532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858651-90C2-FBCD-F751-51C12A3BC693}"/>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BBE49F89-9420-4122-123E-A3B28FD11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3FA28A-A071-099E-26DB-C4E0B137872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2115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EA98-062A-CE62-43B8-2040714F74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0EF8D8-8367-F050-F9CB-B7685C261EA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CB2742-F8B9-030B-BE2D-F7FC7CF3367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D54299-B4D5-F28E-BADE-EEFCE5950608}"/>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a:extLst>
              <a:ext uri="{FF2B5EF4-FFF2-40B4-BE49-F238E27FC236}">
                <a16:creationId xmlns:a16="http://schemas.microsoft.com/office/drawing/2014/main" id="{ED136474-EB2B-09F4-A066-E07BA98A90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9FF55-6DA3-02B2-6D23-38AEB8160C7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1069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A73C4-1D7F-7A63-F0A0-1DE48CD81BB8}"/>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2AAAF1-653A-1E87-652D-6F2130BEC7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A48CEF8-76FA-D4E5-DFA1-35CAFDF86BA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7339DB-683C-9011-632D-CA006C3149C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356BA-65B1-96FD-AA1B-7D384AA2BAE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D93F99-CA66-D489-9D8A-9691A19EC1AD}"/>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a:extLst>
              <a:ext uri="{FF2B5EF4-FFF2-40B4-BE49-F238E27FC236}">
                <a16:creationId xmlns:a16="http://schemas.microsoft.com/office/drawing/2014/main" id="{78B1638E-4284-66E2-5B31-5687DC591D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D115F4-C9FF-450B-5E3C-889AEBA4B7C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9117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5DA7F-4897-2AAD-F9BB-0D5C9B70A2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CDC8E7-38DD-9B40-96F1-8B286161D239}"/>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a:extLst>
              <a:ext uri="{FF2B5EF4-FFF2-40B4-BE49-F238E27FC236}">
                <a16:creationId xmlns:a16="http://schemas.microsoft.com/office/drawing/2014/main" id="{45001E27-0D19-E160-9B3F-F8F7495663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0B8D78-E041-83F1-FF8C-519C9F92C1C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9361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39AED1-0BDF-CDA7-92E6-BF7039FDE87D}"/>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a:extLst>
              <a:ext uri="{FF2B5EF4-FFF2-40B4-BE49-F238E27FC236}">
                <a16:creationId xmlns:a16="http://schemas.microsoft.com/office/drawing/2014/main" id="{347279F3-2E47-0E43-0C57-87B6BA197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5CD2C5-0BFA-7E12-CF01-A47ACA7D2B0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1352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7978-EF51-BB76-9486-150F3049AFC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93E11F-3BCF-9A02-02FF-D3E65E90BCE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A7E1DD-D999-7958-102A-99868B8B2E3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69F7284-6516-F5A9-D71A-266F4218330B}"/>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a:extLst>
              <a:ext uri="{FF2B5EF4-FFF2-40B4-BE49-F238E27FC236}">
                <a16:creationId xmlns:a16="http://schemas.microsoft.com/office/drawing/2014/main" id="{7B60F234-EAC1-A56A-9D07-136B8778E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0B9317-AD6C-01C9-1B91-0EDEEC7EC55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256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CB65-B637-6647-83D7-BB6DB030D0C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71B023-B724-67E0-C02F-7BD7716228A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D8567F2E-058B-8CB3-D7C3-6798F6A8A4D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6B93FD1-7A90-276E-70E2-8B32120F958F}"/>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a:extLst>
              <a:ext uri="{FF2B5EF4-FFF2-40B4-BE49-F238E27FC236}">
                <a16:creationId xmlns:a16="http://schemas.microsoft.com/office/drawing/2014/main" id="{15B9FCA7-AA13-D877-A132-408BC1C563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1E9CBF-83B8-6850-D8D3-3F59DE40E18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9683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F11F-CA6D-487F-022E-395D8CE11A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688642-C625-6F26-5EB2-C99243CAFE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2FD8C6-D2C0-ACB0-DB71-F2AED8A1BB6F}"/>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B13D6499-93A1-826C-795F-840D205C2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89FE0F-7DF1-4337-3848-B51EFB96CED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411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534E67-4DD5-B58C-7BE6-C4FF07A74C4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98AE34-C9D4-6D35-5337-108E676399A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6E1480-B6DC-BE79-747E-1B0CE4A79D97}"/>
              </a:ext>
            </a:extLst>
          </p:cNvPr>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BC4ECBF0-7AE6-D5F2-AECA-0D680255F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EBDBA-3B2D-0593-8D83-8048031CE7E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622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BAB16D-35AA-BAC9-C6FC-F35F66924AD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186A07-7E8B-CD8F-891E-3AA3271C4FC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CCDCD4-7002-2598-B242-54DFA1FD1ED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a:extLst>
              <a:ext uri="{FF2B5EF4-FFF2-40B4-BE49-F238E27FC236}">
                <a16:creationId xmlns:a16="http://schemas.microsoft.com/office/drawing/2014/main" id="{58903748-C815-C15F-DD1F-95BF70463A7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099252-4725-6DE1-EDE6-E15B5D1ACA2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6372344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6E3F21-C020-DBF5-D693-C599BB5C23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75C364-2805-1F80-B651-3BF25701FEE1}"/>
              </a:ext>
            </a:extLst>
          </p:cNvPr>
          <p:cNvSpPr txBox="1"/>
          <p:nvPr/>
        </p:nvSpPr>
        <p:spPr>
          <a:xfrm>
            <a:off x="2780997" y="692882"/>
            <a:ext cx="3545430" cy="461665"/>
          </a:xfrm>
          <a:prstGeom prst="rect">
            <a:avLst/>
          </a:prstGeom>
          <a:noFill/>
        </p:spPr>
        <p:txBody>
          <a:bodyPr wrap="square">
            <a:spAutoFit/>
          </a:bodyPr>
          <a:lstStyle/>
          <a:p>
            <a:pPr algn="ctr">
              <a:defRPr sz="2400" b="1">
                <a:solidFill>
                  <a:srgbClr val="141E64"/>
                </a:solidFill>
                <a:latin typeface="Times New Roman"/>
              </a:defRPr>
            </a:pPr>
            <a:r>
              <a:rPr lang="en-US" dirty="0">
                <a:latin typeface="Times New Roman" panose="02020603050405020304" pitchFamily="18" charset="0"/>
                <a:cs typeface="Times New Roman" panose="02020603050405020304" pitchFamily="18" charset="0"/>
              </a:rPr>
              <a:t>P</a:t>
            </a:r>
            <a:r>
              <a:rPr dirty="0">
                <a:latin typeface="Times New Roman" panose="02020603050405020304" pitchFamily="18" charset="0"/>
                <a:cs typeface="Times New Roman" panose="02020603050405020304" pitchFamily="18" charset="0"/>
              </a:rPr>
              <a:t>ROJECT REPORT ON</a:t>
            </a:r>
          </a:p>
        </p:txBody>
      </p:sp>
      <p:sp>
        <p:nvSpPr>
          <p:cNvPr id="4" name="Rectangle 3">
            <a:extLst>
              <a:ext uri="{FF2B5EF4-FFF2-40B4-BE49-F238E27FC236}">
                <a16:creationId xmlns:a16="http://schemas.microsoft.com/office/drawing/2014/main" id="{E86D1EDA-EE1A-E288-666A-EEB5CCA27426}"/>
              </a:ext>
            </a:extLst>
          </p:cNvPr>
          <p:cNvSpPr/>
          <p:nvPr/>
        </p:nvSpPr>
        <p:spPr>
          <a:xfrm>
            <a:off x="2907792" y="1224143"/>
            <a:ext cx="3291840" cy="18288"/>
          </a:xfrm>
          <a:prstGeom prst="rect">
            <a:avLst/>
          </a:prstGeom>
          <a:solidFill>
            <a:srgbClr val="C99B00"/>
          </a:solidFill>
          <a:ln>
            <a:solidFill>
              <a:srgbClr val="C9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527729-52C8-1614-2987-E2565D157DCF}"/>
              </a:ext>
            </a:extLst>
          </p:cNvPr>
          <p:cNvSpPr txBox="1"/>
          <p:nvPr/>
        </p:nvSpPr>
        <p:spPr>
          <a:xfrm>
            <a:off x="494523" y="1589056"/>
            <a:ext cx="8289730" cy="954107"/>
          </a:xfrm>
          <a:prstGeom prst="rect">
            <a:avLst/>
          </a:prstGeom>
          <a:noFill/>
        </p:spPr>
        <p:txBody>
          <a:bodyPr wrap="square">
            <a:spAutoFit/>
          </a:bodyPr>
          <a:lstStyle/>
          <a:p>
            <a:pPr algn="ctr">
              <a:defRPr sz="2800" b="1">
                <a:solidFill>
                  <a:srgbClr val="005028"/>
                </a:solidFill>
                <a:latin typeface="Times New Roman"/>
              </a:defRPr>
            </a:pPr>
            <a:r>
              <a:rPr lang="en-US" sz="2800" dirty="0">
                <a:latin typeface="Times New Roman" panose="02020603050405020304" pitchFamily="18" charset="0"/>
                <a:cs typeface="Times New Roman" panose="02020603050405020304" pitchFamily="18" charset="0"/>
              </a:rPr>
              <a:t>Evaluation of Molecular</a:t>
            </a:r>
            <a:r>
              <a:rPr sz="2800" dirty="0">
                <a:latin typeface="Times New Roman" panose="02020603050405020304" pitchFamily="18" charset="0"/>
                <a:cs typeface="Times New Roman" panose="02020603050405020304" pitchFamily="18" charset="0"/>
              </a:rPr>
              <a:t> Viability</a:t>
            </a:r>
            <a:r>
              <a:rPr lang="en-US" sz="2800" dirty="0">
                <a:latin typeface="Times New Roman" panose="02020603050405020304" pitchFamily="18" charset="0"/>
                <a:cs typeface="Times New Roman" panose="02020603050405020304" pitchFamily="18" charset="0"/>
              </a:rPr>
              <a:t> In Reactional Patients of Leprosy</a:t>
            </a:r>
            <a:endParaRPr sz="28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113226A-A9CE-5E59-DF94-93E98AD445A3}"/>
              </a:ext>
            </a:extLst>
          </p:cNvPr>
          <p:cNvSpPr/>
          <p:nvPr/>
        </p:nvSpPr>
        <p:spPr>
          <a:xfrm>
            <a:off x="2930015" y="2836838"/>
            <a:ext cx="3291840" cy="18288"/>
          </a:xfrm>
          <a:prstGeom prst="rect">
            <a:avLst/>
          </a:prstGeom>
          <a:solidFill>
            <a:srgbClr val="C99B00"/>
          </a:solidFill>
          <a:ln>
            <a:solidFill>
              <a:srgbClr val="C9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10DFA2B-AF10-3A24-8F92-BEB4F4C3C040}"/>
              </a:ext>
            </a:extLst>
          </p:cNvPr>
          <p:cNvSpPr txBox="1"/>
          <p:nvPr/>
        </p:nvSpPr>
        <p:spPr>
          <a:xfrm>
            <a:off x="3030552" y="2946549"/>
            <a:ext cx="3082895" cy="1200329"/>
          </a:xfrm>
          <a:prstGeom prst="rect">
            <a:avLst/>
          </a:prstGeom>
          <a:noFill/>
        </p:spPr>
        <p:txBody>
          <a:bodyPr wrap="none">
            <a:spAutoFit/>
          </a:bodyPr>
          <a:lstStyle/>
          <a:p>
            <a:pPr algn="ctr"/>
            <a:r>
              <a:rPr i="1" dirty="0">
                <a:latin typeface="Times New Roman" panose="02020603050405020304" pitchFamily="18" charset="0"/>
                <a:cs typeface="Times New Roman" panose="02020603050405020304" pitchFamily="18" charset="0"/>
              </a:rPr>
              <a:t>Submitted</a:t>
            </a:r>
            <a:endParaRPr lang="en-US" i="1" dirty="0">
              <a:latin typeface="Times New Roman" panose="02020603050405020304" pitchFamily="18" charset="0"/>
              <a:cs typeface="Times New Roman" panose="02020603050405020304" pitchFamily="18" charset="0"/>
            </a:endParaRPr>
          </a:p>
          <a:p>
            <a:pPr algn="ctr"/>
            <a:r>
              <a:rPr i="1" dirty="0">
                <a:latin typeface="Times New Roman" panose="02020603050405020304" pitchFamily="18" charset="0"/>
                <a:cs typeface="Times New Roman" panose="02020603050405020304" pitchFamily="18" charset="0"/>
              </a:rPr>
              <a:t> To</a:t>
            </a:r>
          </a:p>
          <a:p>
            <a:pPr algn="ctr"/>
            <a:r>
              <a:rPr b="1" dirty="0">
                <a:latin typeface="Times New Roman" panose="02020603050405020304" pitchFamily="18" charset="0"/>
                <a:cs typeface="Times New Roman" panose="02020603050405020304" pitchFamily="18" charset="0"/>
              </a:rPr>
              <a:t>Department of Biotechnology</a:t>
            </a:r>
          </a:p>
          <a:p>
            <a:pPr algn="ctr"/>
            <a:r>
              <a:rPr b="1" dirty="0">
                <a:latin typeface="Times New Roman" panose="02020603050405020304" pitchFamily="18" charset="0"/>
                <a:cs typeface="Times New Roman" panose="02020603050405020304" pitchFamily="18" charset="0"/>
              </a:rPr>
              <a:t>GLA University, Mathura</a:t>
            </a:r>
          </a:p>
        </p:txBody>
      </p:sp>
      <p:sp>
        <p:nvSpPr>
          <p:cNvPr id="8" name="TextBox 7">
            <a:extLst>
              <a:ext uri="{FF2B5EF4-FFF2-40B4-BE49-F238E27FC236}">
                <a16:creationId xmlns:a16="http://schemas.microsoft.com/office/drawing/2014/main" id="{E697792D-9DC3-A063-2BC0-F20E3C74BC2B}"/>
              </a:ext>
            </a:extLst>
          </p:cNvPr>
          <p:cNvSpPr txBox="1"/>
          <p:nvPr/>
        </p:nvSpPr>
        <p:spPr>
          <a:xfrm>
            <a:off x="6870663" y="4001089"/>
            <a:ext cx="2044149" cy="1400383"/>
          </a:xfrm>
          <a:prstGeom prst="rect">
            <a:avLst/>
          </a:prstGeom>
          <a:noFill/>
        </p:spPr>
        <p:txBody>
          <a:bodyPr wrap="none">
            <a:spAutoFit/>
          </a:bodyPr>
          <a:lstStyle/>
          <a:p>
            <a:pPr algn="ctr"/>
            <a:r>
              <a:rPr sz="1700" b="1" dirty="0">
                <a:latin typeface="Times New Roman" panose="02020603050405020304" pitchFamily="18" charset="0"/>
                <a:cs typeface="Times New Roman" panose="02020603050405020304" pitchFamily="18" charset="0"/>
              </a:rPr>
              <a:t>Submitted By</a:t>
            </a:r>
            <a:endParaRPr lang="en-US" sz="1700" b="1" dirty="0">
              <a:latin typeface="Times New Roman" panose="02020603050405020304" pitchFamily="18" charset="0"/>
              <a:cs typeface="Times New Roman" panose="02020603050405020304" pitchFamily="18" charset="0"/>
            </a:endParaRPr>
          </a:p>
          <a:p>
            <a:pPr algn="ctr"/>
            <a:r>
              <a:rPr sz="1700" b="1" dirty="0">
                <a:latin typeface="Times New Roman" panose="02020603050405020304" pitchFamily="18" charset="0"/>
                <a:cs typeface="Times New Roman" panose="02020603050405020304" pitchFamily="18" charset="0"/>
              </a:rPr>
              <a:t>Gopal Singh</a:t>
            </a:r>
            <a:endParaRPr lang="en-US" sz="1700" b="1" dirty="0">
              <a:latin typeface="Times New Roman" panose="02020603050405020304" pitchFamily="18" charset="0"/>
              <a:cs typeface="Times New Roman" panose="02020603050405020304" pitchFamily="18" charset="0"/>
            </a:endParaRPr>
          </a:p>
          <a:p>
            <a:pPr algn="ctr"/>
            <a:r>
              <a:rPr lang="en-IN" sz="1700" dirty="0">
                <a:latin typeface="Times New Roman" panose="02020603050405020304" pitchFamily="18" charset="0"/>
                <a:cs typeface="Times New Roman" panose="02020603050405020304" pitchFamily="18" charset="0"/>
              </a:rPr>
              <a:t>2484300006</a:t>
            </a:r>
            <a:endParaRPr sz="1700" dirty="0">
              <a:latin typeface="Times New Roman" panose="02020603050405020304" pitchFamily="18" charset="0"/>
              <a:cs typeface="Times New Roman" panose="02020603050405020304" pitchFamily="18" charset="0"/>
            </a:endParaRPr>
          </a:p>
          <a:p>
            <a:pPr algn="ctr"/>
            <a:r>
              <a:rPr sz="1700" dirty="0">
                <a:latin typeface="Times New Roman" panose="02020603050405020304" pitchFamily="18" charset="0"/>
                <a:cs typeface="Times New Roman" panose="02020603050405020304" pitchFamily="18" charset="0"/>
              </a:rPr>
              <a:t>M.Sc. Biotechnology</a:t>
            </a:r>
          </a:p>
          <a:p>
            <a:pPr algn="ctr"/>
            <a:r>
              <a:rPr sz="1700" dirty="0">
                <a:latin typeface="Times New Roman" panose="02020603050405020304" pitchFamily="18" charset="0"/>
                <a:cs typeface="Times New Roman" panose="02020603050405020304" pitchFamily="18" charset="0"/>
              </a:rPr>
              <a:t>Semester IV</a:t>
            </a:r>
          </a:p>
        </p:txBody>
      </p:sp>
      <p:sp>
        <p:nvSpPr>
          <p:cNvPr id="10" name="TextBox 9">
            <a:extLst>
              <a:ext uri="{FF2B5EF4-FFF2-40B4-BE49-F238E27FC236}">
                <a16:creationId xmlns:a16="http://schemas.microsoft.com/office/drawing/2014/main" id="{3BA4553A-BDA4-ADAA-C174-0205F93CF836}"/>
              </a:ext>
            </a:extLst>
          </p:cNvPr>
          <p:cNvSpPr txBox="1"/>
          <p:nvPr/>
        </p:nvSpPr>
        <p:spPr>
          <a:xfrm>
            <a:off x="3372322" y="4275382"/>
            <a:ext cx="2827310" cy="1661993"/>
          </a:xfrm>
          <a:prstGeom prst="rect">
            <a:avLst/>
          </a:prstGeom>
          <a:noFill/>
        </p:spPr>
        <p:txBody>
          <a:bodyPr wrap="square">
            <a:spAutoFit/>
          </a:bodyPr>
          <a:lstStyle/>
          <a:p>
            <a:pPr algn="ctr"/>
            <a:r>
              <a:rPr b="1" dirty="0">
                <a:latin typeface="Times New Roman" panose="02020603050405020304" pitchFamily="18" charset="0"/>
                <a:cs typeface="Times New Roman" panose="02020603050405020304" pitchFamily="18" charset="0"/>
              </a:rPr>
              <a:t>Supervis</a:t>
            </a:r>
            <a:r>
              <a:rPr lang="en-US" b="1" dirty="0">
                <a:latin typeface="Times New Roman" panose="02020603050405020304" pitchFamily="18" charset="0"/>
                <a:cs typeface="Times New Roman" panose="02020603050405020304" pitchFamily="18" charset="0"/>
              </a:rPr>
              <a:t>or</a:t>
            </a:r>
            <a:r>
              <a:rPr lang="en-US" sz="1600" b="1" dirty="0">
                <a:latin typeface="Times New Roman" panose="02020603050405020304" pitchFamily="18" charset="0"/>
                <a:cs typeface="Times New Roman" panose="02020603050405020304" pitchFamily="18" charset="0"/>
              </a:rPr>
              <a:t>        </a:t>
            </a:r>
          </a:p>
          <a:p>
            <a:pPr algn="ctr"/>
            <a:r>
              <a:rPr lang="en-IN" sz="1600" b="1" dirty="0">
                <a:latin typeface="Times New Roman" panose="02020603050405020304" pitchFamily="18" charset="0"/>
                <a:cs typeface="Times New Roman" panose="02020603050405020304" pitchFamily="18" charset="0"/>
              </a:rPr>
              <a:t>Dr. Itu Singh</a:t>
            </a:r>
            <a:endParaRPr sz="1600" b="1" dirty="0">
              <a:latin typeface="Times New Roman" panose="02020603050405020304" pitchFamily="18" charset="0"/>
              <a:cs typeface="Times New Roman" panose="02020603050405020304" pitchFamily="18" charset="0"/>
            </a:endParaRPr>
          </a:p>
          <a:p>
            <a:pPr algn="ctr"/>
            <a:r>
              <a:rPr sz="1600" b="1" dirty="0">
                <a:latin typeface="Times New Roman" panose="02020603050405020304" pitchFamily="18" charset="0"/>
                <a:cs typeface="Times New Roman" panose="02020603050405020304" pitchFamily="18" charset="0"/>
              </a:rPr>
              <a:t> </a:t>
            </a:r>
            <a:r>
              <a:rPr lang="en-IN" sz="1700" dirty="0">
                <a:latin typeface="Times New Roman" panose="02020603050405020304" pitchFamily="18" charset="0"/>
                <a:cs typeface="Times New Roman" panose="02020603050405020304" pitchFamily="18" charset="0"/>
              </a:rPr>
              <a:t>(External Guide)</a:t>
            </a:r>
          </a:p>
          <a:p>
            <a:pPr algn="ctr"/>
            <a:r>
              <a:rPr lang="en-US" sz="1700" dirty="0">
                <a:latin typeface="Times New Roman" panose="02020603050405020304" pitchFamily="18" charset="0"/>
                <a:cs typeface="Times New Roman" panose="02020603050405020304" pitchFamily="18" charset="0"/>
              </a:rPr>
              <a:t>    </a:t>
            </a:r>
            <a:r>
              <a:rPr lang="en-IN" sz="17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Scientist In-Charge    </a:t>
            </a:r>
            <a:endParaRPr lang="en-IN" sz="1700" dirty="0">
              <a:latin typeface="Times New Roman" panose="02020603050405020304" pitchFamily="18" charset="0"/>
              <a:cs typeface="Times New Roman" panose="02020603050405020304" pitchFamily="18" charset="0"/>
            </a:endParaRPr>
          </a:p>
          <a:p>
            <a:pPr algn="ctr"/>
            <a:r>
              <a:rPr lang="en-IN" sz="1700" dirty="0">
                <a:latin typeface="Times New Roman" panose="02020603050405020304" pitchFamily="18" charset="0"/>
                <a:cs typeface="Times New Roman" panose="02020603050405020304" pitchFamily="18" charset="0"/>
              </a:rPr>
              <a:t>      Stanley Browne Research                       Laboratory, New Delhi</a:t>
            </a:r>
          </a:p>
        </p:txBody>
      </p:sp>
      <p:sp>
        <p:nvSpPr>
          <p:cNvPr id="11" name="Rectangle 10">
            <a:extLst>
              <a:ext uri="{FF2B5EF4-FFF2-40B4-BE49-F238E27FC236}">
                <a16:creationId xmlns:a16="http://schemas.microsoft.com/office/drawing/2014/main" id="{E756321F-0380-2112-0224-9AD3C45D6183}"/>
              </a:ext>
            </a:extLst>
          </p:cNvPr>
          <p:cNvSpPr/>
          <p:nvPr/>
        </p:nvSpPr>
        <p:spPr>
          <a:xfrm>
            <a:off x="-18288" y="6172200"/>
            <a:ext cx="9144000" cy="685800"/>
          </a:xfrm>
          <a:prstGeom prst="rect">
            <a:avLst/>
          </a:prstGeom>
          <a:solidFill>
            <a:srgbClr val="005028"/>
          </a:solidFill>
          <a:ln>
            <a:solidFill>
              <a:srgbClr val="005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1107F8B-C041-88F4-E543-A7AB14B28C6F}"/>
              </a:ext>
            </a:extLst>
          </p:cNvPr>
          <p:cNvSpPr txBox="1"/>
          <p:nvPr/>
        </p:nvSpPr>
        <p:spPr>
          <a:xfrm>
            <a:off x="1789471" y="6211669"/>
            <a:ext cx="6017341" cy="646331"/>
          </a:xfrm>
          <a:prstGeom prst="rect">
            <a:avLst/>
          </a:prstGeom>
          <a:noFill/>
        </p:spPr>
        <p:txBody>
          <a:bodyPr wrap="square">
            <a:spAutoFit/>
          </a:bodyPr>
          <a:lstStyle/>
          <a:p>
            <a:pPr algn="ctr">
              <a:defRPr>
                <a:solidFill>
                  <a:srgbClr val="FFFFFF"/>
                </a:solidFill>
              </a:defRPr>
            </a:pPr>
            <a:r>
              <a:rPr dirty="0">
                <a:latin typeface="Times New Roman" panose="02020603050405020304" pitchFamily="18" charset="0"/>
                <a:cs typeface="Times New Roman" panose="02020603050405020304" pitchFamily="18" charset="0"/>
              </a:rPr>
              <a:t>GLA UNIVERSITY, MATHURA</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2025–26</a:t>
            </a:r>
          </a:p>
        </p:txBody>
      </p:sp>
      <p:pic>
        <p:nvPicPr>
          <p:cNvPr id="2" name="Picture 1" descr="The Leprosy Mission Trust India">
            <a:extLst>
              <a:ext uri="{FF2B5EF4-FFF2-40B4-BE49-F238E27FC236}">
                <a16:creationId xmlns:a16="http://schemas.microsoft.com/office/drawing/2014/main" id="{FF1E99F9-7BE6-C509-A659-A261196777C0}"/>
              </a:ext>
            </a:extLst>
          </p:cNvPr>
          <p:cNvPicPr>
            <a:picLocks noChangeAspect="1"/>
          </p:cNvPicPr>
          <p:nvPr/>
        </p:nvPicPr>
        <p:blipFill>
          <a:blip r:embed="rId3"/>
          <a:stretch>
            <a:fillRect/>
          </a:stretch>
        </p:blipFill>
        <p:spPr>
          <a:xfrm>
            <a:off x="7195237" y="59450"/>
            <a:ext cx="1893770" cy="631257"/>
          </a:xfrm>
          <a:prstGeom prst="rect">
            <a:avLst/>
          </a:prstGeom>
        </p:spPr>
      </p:pic>
      <p:sp>
        <p:nvSpPr>
          <p:cNvPr id="13" name="TextBox 12">
            <a:extLst>
              <a:ext uri="{FF2B5EF4-FFF2-40B4-BE49-F238E27FC236}">
                <a16:creationId xmlns:a16="http://schemas.microsoft.com/office/drawing/2014/main" id="{41DBD7C7-3379-7AA7-A657-74FA7C897267}"/>
              </a:ext>
            </a:extLst>
          </p:cNvPr>
          <p:cNvSpPr txBox="1"/>
          <p:nvPr/>
        </p:nvSpPr>
        <p:spPr>
          <a:xfrm>
            <a:off x="100740" y="4040558"/>
            <a:ext cx="3082895" cy="1661993"/>
          </a:xfrm>
          <a:prstGeom prst="rect">
            <a:avLst/>
          </a:prstGeom>
          <a:noFill/>
        </p:spPr>
        <p:txBody>
          <a:bodyPr wrap="square">
            <a:spAutoFit/>
          </a:bodyPr>
          <a:lstStyle/>
          <a:p>
            <a:pPr algn="ctr"/>
            <a:r>
              <a:rPr lang="en-US" sz="1700" b="1" dirty="0">
                <a:latin typeface="Times New Roman" panose="02020603050405020304" pitchFamily="18" charset="0"/>
                <a:cs typeface="Times New Roman" panose="02020603050405020304" pitchFamily="18" charset="0"/>
              </a:rPr>
              <a:t>Supervisor</a:t>
            </a:r>
          </a:p>
          <a:p>
            <a:pPr algn="ctr"/>
            <a:r>
              <a:rPr lang="en-US" sz="1700" b="1" dirty="0">
                <a:latin typeface="Times New Roman" panose="02020603050405020304" pitchFamily="18" charset="0"/>
                <a:cs typeface="Times New Roman" panose="02020603050405020304" pitchFamily="18" charset="0"/>
              </a:rPr>
              <a:t>Dr. Jyoti Gupta</a:t>
            </a:r>
          </a:p>
          <a:p>
            <a:pPr algn="ctr"/>
            <a:r>
              <a:rPr lang="en-US" sz="1700" dirty="0">
                <a:latin typeface="Times New Roman" panose="02020603050405020304" pitchFamily="18" charset="0"/>
                <a:cs typeface="Times New Roman" panose="02020603050405020304" pitchFamily="18" charset="0"/>
              </a:rPr>
              <a:t>(Internal Guide)</a:t>
            </a:r>
          </a:p>
          <a:p>
            <a:pPr algn="ctr"/>
            <a:r>
              <a:rPr lang="en-US" sz="1700" dirty="0">
                <a:latin typeface="Times New Roman" panose="02020603050405020304" pitchFamily="18" charset="0"/>
                <a:cs typeface="Times New Roman" panose="02020603050405020304" pitchFamily="18" charset="0"/>
              </a:rPr>
              <a:t>Asst. Professor</a:t>
            </a:r>
          </a:p>
          <a:p>
            <a:pPr algn="ctr"/>
            <a:r>
              <a:rPr lang="en-US" sz="1700" dirty="0">
                <a:latin typeface="Times New Roman" panose="02020603050405020304" pitchFamily="18" charset="0"/>
                <a:cs typeface="Times New Roman" panose="02020603050405020304" pitchFamily="18" charset="0"/>
              </a:rPr>
              <a:t>Department of Biotechnology      GLA University</a:t>
            </a:r>
          </a:p>
        </p:txBody>
      </p:sp>
      <p:pic>
        <p:nvPicPr>
          <p:cNvPr id="17" name="Picture 16">
            <a:extLst>
              <a:ext uri="{FF2B5EF4-FFF2-40B4-BE49-F238E27FC236}">
                <a16:creationId xmlns:a16="http://schemas.microsoft.com/office/drawing/2014/main" id="{A3A5DEF3-B01C-3769-6745-2D483005511F}"/>
              </a:ext>
            </a:extLst>
          </p:cNvPr>
          <p:cNvPicPr>
            <a:picLocks noChangeAspect="1"/>
          </p:cNvPicPr>
          <p:nvPr/>
        </p:nvPicPr>
        <p:blipFill>
          <a:blip r:embed="rId4"/>
          <a:stretch>
            <a:fillRect/>
          </a:stretch>
        </p:blipFill>
        <p:spPr>
          <a:xfrm>
            <a:off x="33632" y="0"/>
            <a:ext cx="1281983" cy="863978"/>
          </a:xfrm>
          <a:prstGeom prst="rect">
            <a:avLst/>
          </a:prstGeom>
        </p:spPr>
      </p:pic>
    </p:spTree>
    <p:extLst>
      <p:ext uri="{BB962C8B-B14F-4D97-AF65-F5344CB8AC3E}">
        <p14:creationId xmlns:p14="http://schemas.microsoft.com/office/powerpoint/2010/main" val="190967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C783A4-AB2B-09D9-329E-1C394EE4C9DC}"/>
              </a:ext>
            </a:extLst>
          </p:cNvPr>
          <p:cNvSpPr txBox="1"/>
          <p:nvPr/>
        </p:nvSpPr>
        <p:spPr>
          <a:xfrm>
            <a:off x="46653" y="93306"/>
            <a:ext cx="9144000" cy="4597669"/>
          </a:xfrm>
          <a:prstGeom prst="rect">
            <a:avLst/>
          </a:prstGeom>
          <a:noFill/>
        </p:spPr>
        <p:txBody>
          <a:bodyPr wrap="square" rtlCol="0">
            <a:spAutoFit/>
          </a:bodyPr>
          <a:lstStyle/>
          <a:p>
            <a:pPr algn="ctr"/>
            <a:r>
              <a:rPr lang="en-IN" sz="4000" b="1" dirty="0">
                <a:latin typeface="Times" panose="02020603050405020304" pitchFamily="18" charset="0"/>
                <a:cs typeface="Times" panose="02020603050405020304" pitchFamily="18" charset="0"/>
              </a:rPr>
              <a:t>Acknowledgement</a:t>
            </a:r>
          </a:p>
          <a:p>
            <a:pPr algn="ctr"/>
            <a:endParaRPr lang="en-IN" sz="4000" b="1" dirty="0">
              <a:latin typeface="Times" panose="02020603050405020304" pitchFamily="18" charset="0"/>
              <a:cs typeface="Times"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 sincerely thank my </a:t>
            </a:r>
            <a:r>
              <a:rPr lang="en-IN" b="1" dirty="0">
                <a:latin typeface="Times New Roman" panose="02020603050405020304" pitchFamily="18" charset="0"/>
                <a:cs typeface="Times New Roman" panose="02020603050405020304" pitchFamily="18" charset="0"/>
              </a:rPr>
              <a:t>Internal Guide, Dr. Jyoti Gupta</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External Guide, Dr. Itu Singh</a:t>
            </a:r>
            <a:r>
              <a:rPr lang="en-IN" dirty="0">
                <a:latin typeface="Times New Roman" panose="02020603050405020304" pitchFamily="18" charset="0"/>
                <a:cs typeface="Times New Roman" panose="02020603050405020304" pitchFamily="18" charset="0"/>
              </a:rPr>
              <a:t>, for their valuable guidance, encouragement, and support throughout this study.</a:t>
            </a:r>
          </a:p>
          <a:p>
            <a:pPr>
              <a:lnSpc>
                <a:spcPct val="150000"/>
              </a:lnSpc>
            </a:pPr>
            <a:r>
              <a:rPr lang="en-IN" dirty="0">
                <a:latin typeface="Times New Roman" panose="02020603050405020304" pitchFamily="18" charset="0"/>
                <a:cs typeface="Times New Roman" panose="02020603050405020304" pitchFamily="18" charset="0"/>
              </a:rPr>
              <a:t>I also express my gratitude to the </a:t>
            </a:r>
            <a:r>
              <a:rPr lang="en-IN" b="1" dirty="0">
                <a:latin typeface="Times New Roman" panose="02020603050405020304" pitchFamily="18" charset="0"/>
                <a:cs typeface="Times New Roman" panose="02020603050405020304" pitchFamily="18" charset="0"/>
              </a:rPr>
              <a:t>Department of Biotechnology, GLA University</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Stanley Browne Research Laboratory, New Delhi</a:t>
            </a:r>
            <a:r>
              <a:rPr lang="en-IN" dirty="0">
                <a:latin typeface="Times New Roman" panose="02020603050405020304" pitchFamily="18" charset="0"/>
                <a:cs typeface="Times New Roman" panose="02020603050405020304" pitchFamily="18" charset="0"/>
              </a:rPr>
              <a:t>, for providing the necessary facilities to carry out this research.</a:t>
            </a:r>
          </a:p>
          <a:p>
            <a:pPr>
              <a:lnSpc>
                <a:spcPct val="150000"/>
              </a:lnSpc>
            </a:pPr>
            <a:r>
              <a:rPr lang="en-IN" dirty="0">
                <a:latin typeface="Times New Roman" panose="02020603050405020304" pitchFamily="18" charset="0"/>
                <a:cs typeface="Times New Roman" panose="02020603050405020304" pitchFamily="18" charset="0"/>
              </a:rPr>
              <a:t>Finally, I thank my family, friends, and everyone who supported me during this work.</a:t>
            </a:r>
          </a:p>
          <a:p>
            <a:pPr>
              <a:lnSpc>
                <a:spcPct val="150000"/>
              </a:lnSpc>
            </a:pPr>
            <a:r>
              <a:rPr lang="en-IN" b="1" dirty="0">
                <a:latin typeface="Times New Roman" panose="02020603050405020304" pitchFamily="18" charset="0"/>
                <a:cs typeface="Times New Roman" panose="02020603050405020304" pitchFamily="18" charset="0"/>
              </a:rPr>
              <a:t>    </a:t>
            </a:r>
          </a:p>
          <a:p>
            <a:pPr>
              <a:lnSpc>
                <a:spcPct val="150000"/>
              </a:lnSpc>
            </a:pPr>
            <a:r>
              <a:rPr lang="en-IN" b="1" i="1" dirty="0">
                <a:latin typeface="Times New Roman" panose="02020603050405020304" pitchFamily="18" charset="0"/>
                <a:cs typeface="Times New Roman" panose="02020603050405020304" pitchFamily="18" charset="0"/>
              </a:rPr>
              <a:t>                                                                                                                            Gopal Singh</a:t>
            </a:r>
          </a:p>
        </p:txBody>
      </p:sp>
    </p:spTree>
    <p:extLst>
      <p:ext uri="{BB962C8B-B14F-4D97-AF65-F5344CB8AC3E}">
        <p14:creationId xmlns:p14="http://schemas.microsoft.com/office/powerpoint/2010/main" val="3048986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9F484-79A2-5213-DAA5-5618760A997A}"/>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3F3AD41-0821-A80B-37A3-FF6EFC0A8514}"/>
              </a:ext>
            </a:extLst>
          </p:cNvPr>
          <p:cNvSpPr txBox="1"/>
          <p:nvPr/>
        </p:nvSpPr>
        <p:spPr>
          <a:xfrm>
            <a:off x="79702" y="1346623"/>
            <a:ext cx="6582695" cy="4585871"/>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Leprosy (Hansen's Disease) is a chronic infectious granulomatous disease caused by </a:t>
            </a:r>
            <a:r>
              <a:rPr lang="en-US" i="1" dirty="0">
                <a:latin typeface="Times New Roman" panose="02020603050405020304" pitchFamily="18" charset="0"/>
                <a:cs typeface="Times New Roman" panose="02020603050405020304" pitchFamily="18" charset="0"/>
              </a:rPr>
              <a:t>Mycobacterium leprae </a:t>
            </a:r>
            <a:r>
              <a:rPr lang="en-US" dirty="0">
                <a:latin typeface="Times New Roman" panose="02020603050405020304" pitchFamily="18" charset="0"/>
                <a:cs typeface="Times New Roman" panose="02020603050405020304" pitchFamily="18" charset="0"/>
              </a:rPr>
              <a:t>and</a:t>
            </a:r>
            <a:r>
              <a:rPr lang="en-US" i="1" dirty="0">
                <a:latin typeface="Times New Roman" panose="02020603050405020304" pitchFamily="18" charset="0"/>
                <a:cs typeface="Times New Roman" panose="02020603050405020304" pitchFamily="18" charset="0"/>
              </a:rPr>
              <a:t> Mycobacterium lepromatosis. </a:t>
            </a:r>
          </a:p>
          <a:p>
            <a:pPr marL="285750" indent="-285750" algn="just">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Primarily affects the skin, peripheral nerves, upper respiratory tract mucosa, and eyes; transmitted through prolonged close contact with untreated patients, and if left untreated can cause nerve damage, disability, and deformities, although it is curable with early multidrug therapy (MDT).</a:t>
            </a:r>
            <a:endParaRPr lang="en-US"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Mycobacterium leprae </a:t>
            </a:r>
            <a:r>
              <a:rPr lang="en-US" dirty="0">
                <a:latin typeface="Times New Roman" panose="02020603050405020304" pitchFamily="18" charset="0"/>
                <a:cs typeface="Times New Roman" panose="02020603050405020304" pitchFamily="18" charset="0"/>
              </a:rPr>
              <a:t>is a Gram-positive, acid-fast bacillus (AFB), appearing as a straight or slightly curved rod shaped (1–8 μm length × 0.2–0.5 μm diameter) and stained by Zeihl-Neelsen Staining. </a:t>
            </a:r>
          </a:p>
          <a:p>
            <a:pPr marL="285750" indent="-285750" algn="just">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Genome Size of </a:t>
            </a:r>
            <a:r>
              <a:rPr lang="en-IN" i="1" dirty="0">
                <a:latin typeface="Times New Roman" panose="02020603050405020304" pitchFamily="18" charset="0"/>
                <a:cs typeface="Times New Roman" panose="02020603050405020304" pitchFamily="18" charset="0"/>
              </a:rPr>
              <a:t>M. leprae</a:t>
            </a:r>
            <a:r>
              <a:rPr lang="en-IN" dirty="0">
                <a:latin typeface="Times New Roman" panose="02020603050405020304" pitchFamily="18" charset="0"/>
                <a:cs typeface="Times New Roman" panose="02020603050405020304" pitchFamily="18" charset="0"/>
              </a:rPr>
              <a:t> is approximately 3.27 mb .</a:t>
            </a:r>
          </a:p>
          <a:p>
            <a:pPr marL="285750" indent="-285750" algn="just">
              <a:spcBef>
                <a:spcPts val="600"/>
              </a:spcBef>
              <a:spcAft>
                <a:spcPts val="60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3086A3-3756-E6DC-5E99-153696F6A504}"/>
              </a:ext>
            </a:extLst>
          </p:cNvPr>
          <p:cNvSpPr txBox="1"/>
          <p:nvPr/>
        </p:nvSpPr>
        <p:spPr>
          <a:xfrm>
            <a:off x="6504116" y="4392575"/>
            <a:ext cx="2742521" cy="523220"/>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Figure 1 : </a:t>
            </a:r>
            <a:r>
              <a:rPr lang="en-US" sz="1400" dirty="0">
                <a:latin typeface="Times New Roman" panose="02020603050405020304" pitchFamily="18" charset="0"/>
                <a:cs typeface="Times New Roman" panose="02020603050405020304" pitchFamily="18" charset="0"/>
              </a:rPr>
              <a:t>Gerhard Armauer Hansen, 1873</a:t>
            </a:r>
            <a:endParaRPr lang="en-IN" sz="1400" dirty="0"/>
          </a:p>
        </p:txBody>
      </p:sp>
      <p:sp>
        <p:nvSpPr>
          <p:cNvPr id="4" name="TextBox 3">
            <a:extLst>
              <a:ext uri="{FF2B5EF4-FFF2-40B4-BE49-F238E27FC236}">
                <a16:creationId xmlns:a16="http://schemas.microsoft.com/office/drawing/2014/main" id="{4323BE36-A514-2C43-206B-57161AEC6A7B}"/>
              </a:ext>
            </a:extLst>
          </p:cNvPr>
          <p:cNvSpPr txBox="1"/>
          <p:nvPr/>
        </p:nvSpPr>
        <p:spPr>
          <a:xfrm>
            <a:off x="2729230" y="156092"/>
            <a:ext cx="368554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Leprosy Disease</a:t>
            </a:r>
            <a:endParaRPr lang="en-IN" sz="4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9F7419E-B245-6E22-43F8-BDAB653F104A}"/>
              </a:ext>
            </a:extLst>
          </p:cNvPr>
          <p:cNvPicPr>
            <a:picLocks noChangeAspect="1"/>
          </p:cNvPicPr>
          <p:nvPr/>
        </p:nvPicPr>
        <p:blipFill>
          <a:blip r:embed="rId2"/>
          <a:stretch>
            <a:fillRect/>
          </a:stretch>
        </p:blipFill>
        <p:spPr>
          <a:xfrm>
            <a:off x="33632" y="0"/>
            <a:ext cx="1281983" cy="863978"/>
          </a:xfrm>
          <a:prstGeom prst="rect">
            <a:avLst/>
          </a:prstGeom>
        </p:spPr>
      </p:pic>
      <p:pic>
        <p:nvPicPr>
          <p:cNvPr id="10" name="Picture 9" descr="The Leprosy Mission Trust India">
            <a:extLst>
              <a:ext uri="{FF2B5EF4-FFF2-40B4-BE49-F238E27FC236}">
                <a16:creationId xmlns:a16="http://schemas.microsoft.com/office/drawing/2014/main" id="{E7795070-38DB-4F1F-BD67-FD0FD78FC066}"/>
              </a:ext>
            </a:extLst>
          </p:cNvPr>
          <p:cNvPicPr>
            <a:picLocks noChangeAspect="1"/>
          </p:cNvPicPr>
          <p:nvPr/>
        </p:nvPicPr>
        <p:blipFill>
          <a:blip r:embed="rId3"/>
          <a:stretch>
            <a:fillRect/>
          </a:stretch>
        </p:blipFill>
        <p:spPr>
          <a:xfrm>
            <a:off x="7195237" y="59450"/>
            <a:ext cx="1893770" cy="631257"/>
          </a:xfrm>
          <a:prstGeom prst="rect">
            <a:avLst/>
          </a:prstGeom>
        </p:spPr>
      </p:pic>
      <p:pic>
        <p:nvPicPr>
          <p:cNvPr id="5" name="Picture 4">
            <a:extLst>
              <a:ext uri="{FF2B5EF4-FFF2-40B4-BE49-F238E27FC236}">
                <a16:creationId xmlns:a16="http://schemas.microsoft.com/office/drawing/2014/main" id="{35BB813E-F9B2-6C49-654A-38FF432F0F64}"/>
              </a:ext>
            </a:extLst>
          </p:cNvPr>
          <p:cNvPicPr>
            <a:picLocks noChangeAspect="1"/>
          </p:cNvPicPr>
          <p:nvPr/>
        </p:nvPicPr>
        <p:blipFill>
          <a:blip r:embed="rId4"/>
          <a:stretch>
            <a:fillRect/>
          </a:stretch>
        </p:blipFill>
        <p:spPr>
          <a:xfrm>
            <a:off x="6904601" y="1827939"/>
            <a:ext cx="1813138" cy="2239346"/>
          </a:xfrm>
          <a:prstGeom prst="rect">
            <a:avLst/>
          </a:prstGeom>
        </p:spPr>
      </p:pic>
      <p:sp>
        <p:nvSpPr>
          <p:cNvPr id="11" name="TextBox 10">
            <a:extLst>
              <a:ext uri="{FF2B5EF4-FFF2-40B4-BE49-F238E27FC236}">
                <a16:creationId xmlns:a16="http://schemas.microsoft.com/office/drawing/2014/main" id="{5C96651B-A54C-6313-A7E5-1DEBF95643F6}"/>
              </a:ext>
            </a:extLst>
          </p:cNvPr>
          <p:cNvSpPr txBox="1"/>
          <p:nvPr/>
        </p:nvSpPr>
        <p:spPr>
          <a:xfrm>
            <a:off x="6820678" y="4159557"/>
            <a:ext cx="2425959" cy="338554"/>
          </a:xfrm>
          <a:prstGeom prst="rect">
            <a:avLst/>
          </a:prstGeom>
          <a:noFill/>
        </p:spPr>
        <p:txBody>
          <a:bodyPr wrap="square">
            <a:spAutoFit/>
          </a:bodyPr>
          <a:lstStyle/>
          <a:p>
            <a:r>
              <a:rPr lang="en-IN" sz="800" dirty="0"/>
              <a:t>https://www.stfrancisleprosy.org/armauer-hansen.html</a:t>
            </a:r>
          </a:p>
        </p:txBody>
      </p:sp>
    </p:spTree>
    <p:extLst>
      <p:ext uri="{BB962C8B-B14F-4D97-AF65-F5344CB8AC3E}">
        <p14:creationId xmlns:p14="http://schemas.microsoft.com/office/powerpoint/2010/main" val="60659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4C8826-1239-0642-B879-882D70247A52}"/>
              </a:ext>
            </a:extLst>
          </p:cNvPr>
          <p:cNvPicPr>
            <a:picLocks noChangeAspect="1"/>
          </p:cNvPicPr>
          <p:nvPr/>
        </p:nvPicPr>
        <p:blipFill>
          <a:blip r:embed="rId2"/>
          <a:stretch>
            <a:fillRect/>
          </a:stretch>
        </p:blipFill>
        <p:spPr>
          <a:xfrm>
            <a:off x="33632" y="0"/>
            <a:ext cx="1281983" cy="863978"/>
          </a:xfrm>
          <a:prstGeom prst="rect">
            <a:avLst/>
          </a:prstGeom>
        </p:spPr>
      </p:pic>
      <p:pic>
        <p:nvPicPr>
          <p:cNvPr id="5" name="Picture 4" descr="The Leprosy Mission Trust India">
            <a:extLst>
              <a:ext uri="{FF2B5EF4-FFF2-40B4-BE49-F238E27FC236}">
                <a16:creationId xmlns:a16="http://schemas.microsoft.com/office/drawing/2014/main" id="{91F56F27-F83F-00DC-FE5D-9EB85C23F844}"/>
              </a:ext>
            </a:extLst>
          </p:cNvPr>
          <p:cNvPicPr>
            <a:picLocks noChangeAspect="1"/>
          </p:cNvPicPr>
          <p:nvPr/>
        </p:nvPicPr>
        <p:blipFill>
          <a:blip r:embed="rId3"/>
          <a:stretch>
            <a:fillRect/>
          </a:stretch>
        </p:blipFill>
        <p:spPr>
          <a:xfrm>
            <a:off x="7195237" y="59450"/>
            <a:ext cx="1893770" cy="631257"/>
          </a:xfrm>
          <a:prstGeom prst="rect">
            <a:avLst/>
          </a:prstGeom>
        </p:spPr>
      </p:pic>
      <p:graphicFrame>
        <p:nvGraphicFramePr>
          <p:cNvPr id="10" name="Table 9">
            <a:extLst>
              <a:ext uri="{FF2B5EF4-FFF2-40B4-BE49-F238E27FC236}">
                <a16:creationId xmlns:a16="http://schemas.microsoft.com/office/drawing/2014/main" id="{6266B8D1-7CCA-2F6F-230D-1B6FFEBA909A}"/>
              </a:ext>
            </a:extLst>
          </p:cNvPr>
          <p:cNvGraphicFramePr>
            <a:graphicFrameLocks noGrp="1"/>
          </p:cNvGraphicFramePr>
          <p:nvPr>
            <p:extLst>
              <p:ext uri="{D42A27DB-BD31-4B8C-83A1-F6EECF244321}">
                <p14:modId xmlns:p14="http://schemas.microsoft.com/office/powerpoint/2010/main" val="693095980"/>
              </p:ext>
            </p:extLst>
          </p:nvPr>
        </p:nvGraphicFramePr>
        <p:xfrm>
          <a:off x="1558789" y="1577238"/>
          <a:ext cx="6502962" cy="3397128"/>
        </p:xfrm>
        <a:graphic>
          <a:graphicData uri="http://schemas.openxmlformats.org/drawingml/2006/table">
            <a:tbl>
              <a:tblPr firstRow="1" firstCol="1" bandRow="1">
                <a:tableStyleId>{5940675A-B579-460E-94D1-54222C63F5DA}</a:tableStyleId>
              </a:tblPr>
              <a:tblGrid>
                <a:gridCol w="2957329">
                  <a:extLst>
                    <a:ext uri="{9D8B030D-6E8A-4147-A177-3AD203B41FA5}">
                      <a16:colId xmlns:a16="http://schemas.microsoft.com/office/drawing/2014/main" val="3356604978"/>
                    </a:ext>
                  </a:extLst>
                </a:gridCol>
                <a:gridCol w="3545633">
                  <a:extLst>
                    <a:ext uri="{9D8B030D-6E8A-4147-A177-3AD203B41FA5}">
                      <a16:colId xmlns:a16="http://schemas.microsoft.com/office/drawing/2014/main" val="1790206047"/>
                    </a:ext>
                  </a:extLst>
                </a:gridCol>
              </a:tblGrid>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KINGDOM</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US" sz="2000" dirty="0">
                          <a:effectLst/>
                          <a:latin typeface="Times New Roman" panose="02020603050405020304" pitchFamily="18" charset="0"/>
                          <a:cs typeface="Times New Roman" panose="02020603050405020304" pitchFamily="18" charset="0"/>
                        </a:rPr>
                        <a:t>BACTERIA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788602"/>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PHYLUM</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IN" sz="2000" b="0" dirty="0"/>
                        <a:t>Actinomycetota</a:t>
                      </a:r>
                      <a:endParaRPr lang="en-IN" sz="20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7216326"/>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ORDER</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IN" sz="2000" dirty="0"/>
                        <a:t>Mycobacteriales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44565"/>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SUB-ORDER</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dirty="0"/>
                        <a:t>                     </a:t>
                      </a:r>
                      <a:r>
                        <a:rPr lang="en-IN" sz="1800" dirty="0"/>
                        <a:t>Mycobacteriineae</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30313974"/>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FAMILY</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US" sz="2000" dirty="0">
                          <a:effectLst/>
                          <a:latin typeface="Times New Roman" panose="02020603050405020304" pitchFamily="18" charset="0"/>
                          <a:cs typeface="Times New Roman" panose="02020603050405020304" pitchFamily="18" charset="0"/>
                        </a:rPr>
                        <a:t>Mycobacteriaceae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44809"/>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GENUS</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US" sz="2000" i="1" dirty="0">
                          <a:effectLst/>
                          <a:latin typeface="Times New Roman" panose="02020603050405020304" pitchFamily="18" charset="0"/>
                          <a:cs typeface="Times New Roman" panose="02020603050405020304" pitchFamily="18" charset="0"/>
                        </a:rPr>
                        <a:t>Mycobacterium</a:t>
                      </a:r>
                      <a:endParaRPr lang="en-IN" sz="20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1328748"/>
                  </a:ext>
                </a:extLst>
              </a:tr>
              <a:tr h="485304">
                <a:tc>
                  <a:txBody>
                    <a:bodyPr/>
                    <a:lstStyle/>
                    <a:p>
                      <a:pPr algn="ctr">
                        <a:lnSpc>
                          <a:spcPct val="150000"/>
                        </a:lnSpc>
                        <a:spcAft>
                          <a:spcPts val="600"/>
                        </a:spcAft>
                        <a:buNone/>
                      </a:pPr>
                      <a:r>
                        <a:rPr lang="en-US" sz="2000" b="1" dirty="0">
                          <a:effectLst/>
                          <a:latin typeface="Times New Roman" panose="02020603050405020304" pitchFamily="18" charset="0"/>
                          <a:cs typeface="Times New Roman" panose="02020603050405020304" pitchFamily="18" charset="0"/>
                        </a:rPr>
                        <a:t>SPECIES</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600"/>
                        </a:spcAft>
                        <a:buNone/>
                      </a:pPr>
                      <a:r>
                        <a:rPr lang="en-US" sz="2000" i="1" dirty="0">
                          <a:effectLst/>
                          <a:latin typeface="Times New Roman" panose="02020603050405020304" pitchFamily="18" charset="0"/>
                          <a:cs typeface="Times New Roman" panose="02020603050405020304" pitchFamily="18" charset="0"/>
                        </a:rPr>
                        <a:t>leprae</a:t>
                      </a:r>
                      <a:endParaRPr lang="en-IN" sz="2000"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0421918"/>
                  </a:ext>
                </a:extLst>
              </a:tr>
            </a:tbl>
          </a:graphicData>
        </a:graphic>
      </p:graphicFrame>
      <p:sp>
        <p:nvSpPr>
          <p:cNvPr id="12" name="TextBox 11">
            <a:extLst>
              <a:ext uri="{FF2B5EF4-FFF2-40B4-BE49-F238E27FC236}">
                <a16:creationId xmlns:a16="http://schemas.microsoft.com/office/drawing/2014/main" id="{D3AE7304-55A4-74A4-9E1E-E3D341FB2E70}"/>
              </a:ext>
            </a:extLst>
          </p:cNvPr>
          <p:cNvSpPr txBox="1"/>
          <p:nvPr/>
        </p:nvSpPr>
        <p:spPr>
          <a:xfrm>
            <a:off x="2453951" y="5244173"/>
            <a:ext cx="4572000" cy="463397"/>
          </a:xfrm>
          <a:prstGeom prst="rect">
            <a:avLst/>
          </a:prstGeom>
          <a:noFill/>
        </p:spPr>
        <p:txBody>
          <a:bodyPr wrap="square">
            <a:spAutoFit/>
          </a:bodyPr>
          <a:lstStyle/>
          <a:p>
            <a:pPr>
              <a:lnSpc>
                <a:spcPct val="150000"/>
              </a:lnSpc>
              <a:spcAft>
                <a:spcPts val="600"/>
              </a:spcAft>
              <a:buNone/>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Table </a:t>
            </a:r>
            <a:r>
              <a:rPr lang="en-US" b="1" u="sng" dirty="0">
                <a:latin typeface="Times New Roman" panose="02020603050405020304" pitchFamily="18" charset="0"/>
                <a:ea typeface="Calibri" panose="020F0502020204030204" pitchFamily="34" charset="0"/>
                <a:cs typeface="Times New Roman" panose="02020603050405020304" pitchFamily="18" charset="0"/>
              </a:rPr>
              <a:t>:</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M. leprae</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 Taxonomic classification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885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3738A3-9037-A44E-42F9-0CC271A5DE43}"/>
              </a:ext>
            </a:extLst>
          </p:cNvPr>
          <p:cNvSpPr txBox="1"/>
          <p:nvPr/>
        </p:nvSpPr>
        <p:spPr>
          <a:xfrm>
            <a:off x="194452" y="1948791"/>
            <a:ext cx="6608555" cy="2694392"/>
          </a:xfrm>
          <a:prstGeom prst="rect">
            <a:avLst/>
          </a:prstGeom>
          <a:noFill/>
        </p:spPr>
        <p:txBody>
          <a:bodyPr wrap="square">
            <a:spAutoFit/>
          </a:bodyPr>
          <a:lstStyle/>
          <a:p>
            <a:pPr marL="285750" indent="-285750">
              <a:lnSpc>
                <a:spcPct val="150000"/>
              </a:lnSpc>
              <a:spcBef>
                <a:spcPts val="600"/>
              </a:spcBef>
              <a:spcAft>
                <a:spcPts val="600"/>
              </a:spcAf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Hypopigmented or reddish skin lesions with loss of sensation. </a:t>
            </a:r>
          </a:p>
          <a:p>
            <a:pPr marL="285750" indent="-285750">
              <a:lnSpc>
                <a:spcPct val="150000"/>
              </a:lnSpc>
              <a:spcBef>
                <a:spcPts val="600"/>
              </a:spcBef>
              <a:spcAft>
                <a:spcPts val="600"/>
              </a:spcAf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Presence of Acid-Fast Bacilli (AFB) in slit-skin smear. </a:t>
            </a:r>
          </a:p>
          <a:p>
            <a:pPr marL="285750" indent="-285750">
              <a:lnSpc>
                <a:spcPct val="150000"/>
              </a:lnSpc>
              <a:spcBef>
                <a:spcPts val="600"/>
              </a:spcBef>
              <a:spcAft>
                <a:spcPts val="600"/>
              </a:spcAft>
              <a:buFont typeface="Arial" panose="020B0604020202020204" pitchFamily="34" charset="0"/>
              <a:buChar char="•"/>
            </a:pPr>
            <a:r>
              <a:rPr lang="en-IN" sz="1900" dirty="0">
                <a:latin typeface="Times New Roman" panose="02020603050405020304" pitchFamily="18" charset="0"/>
                <a:cs typeface="Times New Roman" panose="02020603050405020304" pitchFamily="18" charset="0"/>
              </a:rPr>
              <a:t>Thickened peripheral nerves with sensory or motor                                              impairment. </a:t>
            </a:r>
          </a:p>
          <a:p>
            <a:pPr>
              <a:lnSpc>
                <a:spcPct val="150000"/>
              </a:lnSpc>
              <a:spcBef>
                <a:spcPts val="600"/>
              </a:spcBef>
              <a:spcAft>
                <a:spcPts val="600"/>
              </a:spcAft>
            </a:pPr>
            <a:r>
              <a:rPr lang="en-IN" sz="1900" dirty="0">
                <a:latin typeface="Times New Roman" panose="02020603050405020304" pitchFamily="18" charset="0"/>
                <a:cs typeface="Times New Roman" panose="02020603050405020304" pitchFamily="18" charset="0"/>
              </a:rPr>
              <a:t>Diagnosis is confirmed if </a:t>
            </a:r>
            <a:r>
              <a:rPr lang="en-IN" sz="1900" b="1" dirty="0">
                <a:latin typeface="Times New Roman" panose="02020603050405020304" pitchFamily="18" charset="0"/>
                <a:cs typeface="Times New Roman" panose="02020603050405020304" pitchFamily="18" charset="0"/>
              </a:rPr>
              <a:t>one or more cardinal signs</a:t>
            </a:r>
            <a:r>
              <a:rPr lang="en-IN" sz="1900" dirty="0">
                <a:latin typeface="Times New Roman" panose="02020603050405020304" pitchFamily="18" charset="0"/>
                <a:cs typeface="Times New Roman" panose="02020603050405020304" pitchFamily="18" charset="0"/>
              </a:rPr>
              <a:t> are present.</a:t>
            </a:r>
          </a:p>
        </p:txBody>
      </p:sp>
      <p:pic>
        <p:nvPicPr>
          <p:cNvPr id="7" name="Picture 6" descr="Leprosy (including reactions) - Plastic Surgery KeyPlastic Surgery Key">
            <a:extLst>
              <a:ext uri="{FF2B5EF4-FFF2-40B4-BE49-F238E27FC236}">
                <a16:creationId xmlns:a16="http://schemas.microsoft.com/office/drawing/2014/main" id="{BDD9E267-1E9A-D4D7-C92D-BA54E14BDC9D}"/>
              </a:ext>
            </a:extLst>
          </p:cNvPr>
          <p:cNvPicPr>
            <a:picLocks noChangeAspect="1"/>
          </p:cNvPicPr>
          <p:nvPr/>
        </p:nvPicPr>
        <p:blipFill>
          <a:blip r:embed="rId2"/>
          <a:stretch>
            <a:fillRect/>
          </a:stretch>
        </p:blipFill>
        <p:spPr>
          <a:xfrm>
            <a:off x="6891661" y="2153141"/>
            <a:ext cx="1893770" cy="2551717"/>
          </a:xfrm>
          <a:prstGeom prst="rect">
            <a:avLst/>
          </a:prstGeom>
          <a:ln w="38100" cap="sq">
            <a:no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3CEF94F6-6519-66CE-E6B6-E25E0BFA2B06}"/>
              </a:ext>
            </a:extLst>
          </p:cNvPr>
          <p:cNvSpPr txBox="1"/>
          <p:nvPr/>
        </p:nvSpPr>
        <p:spPr>
          <a:xfrm>
            <a:off x="6925286" y="4789097"/>
            <a:ext cx="1826519" cy="376834"/>
          </a:xfrm>
          <a:prstGeom prst="rect">
            <a:avLst/>
          </a:prstGeom>
          <a:noFill/>
        </p:spPr>
        <p:txBody>
          <a:bodyPr wrap="square">
            <a:spAutoFit/>
          </a:bodyPr>
          <a:lstStyle/>
          <a:p>
            <a:pPr>
              <a:lnSpc>
                <a:spcPct val="150000"/>
              </a:lnSpc>
              <a:spcBef>
                <a:spcPts val="600"/>
              </a:spcBef>
              <a:spcAft>
                <a:spcPts val="600"/>
              </a:spcAft>
            </a:pPr>
            <a:r>
              <a:rPr lang="en-IN" sz="1400" b="1" dirty="0">
                <a:latin typeface="Times New Roman" panose="02020603050405020304" pitchFamily="18" charset="0"/>
                <a:cs typeface="Times New Roman" panose="02020603050405020304" pitchFamily="18" charset="0"/>
              </a:rPr>
              <a:t>Figure 2: </a:t>
            </a:r>
            <a:r>
              <a:rPr lang="en-IN" sz="1400" dirty="0">
                <a:latin typeface="Times New Roman" panose="02020603050405020304" pitchFamily="18" charset="0"/>
                <a:cs typeface="Times New Roman" panose="02020603050405020304" pitchFamily="18" charset="0"/>
              </a:rPr>
              <a:t>Skin lesions</a:t>
            </a:r>
          </a:p>
        </p:txBody>
      </p:sp>
      <p:pic>
        <p:nvPicPr>
          <p:cNvPr id="12" name="Picture 11">
            <a:extLst>
              <a:ext uri="{FF2B5EF4-FFF2-40B4-BE49-F238E27FC236}">
                <a16:creationId xmlns:a16="http://schemas.microsoft.com/office/drawing/2014/main" id="{5288A0CA-3C00-6DA4-D263-622733D0702B}"/>
              </a:ext>
            </a:extLst>
          </p:cNvPr>
          <p:cNvPicPr>
            <a:picLocks noChangeAspect="1"/>
          </p:cNvPicPr>
          <p:nvPr/>
        </p:nvPicPr>
        <p:blipFill>
          <a:blip r:embed="rId3"/>
          <a:stretch>
            <a:fillRect/>
          </a:stretch>
        </p:blipFill>
        <p:spPr>
          <a:xfrm>
            <a:off x="33632" y="0"/>
            <a:ext cx="1281983" cy="863978"/>
          </a:xfrm>
          <a:prstGeom prst="rect">
            <a:avLst/>
          </a:prstGeom>
        </p:spPr>
      </p:pic>
      <p:pic>
        <p:nvPicPr>
          <p:cNvPr id="14" name="Picture 13" descr="The Leprosy Mission Trust India">
            <a:extLst>
              <a:ext uri="{FF2B5EF4-FFF2-40B4-BE49-F238E27FC236}">
                <a16:creationId xmlns:a16="http://schemas.microsoft.com/office/drawing/2014/main" id="{C0601A37-B6E8-35FD-F0C6-9587B18C48B1}"/>
              </a:ext>
            </a:extLst>
          </p:cNvPr>
          <p:cNvPicPr>
            <a:picLocks noChangeAspect="1"/>
          </p:cNvPicPr>
          <p:nvPr/>
        </p:nvPicPr>
        <p:blipFill>
          <a:blip r:embed="rId4"/>
          <a:stretch>
            <a:fillRect/>
          </a:stretch>
        </p:blipFill>
        <p:spPr>
          <a:xfrm>
            <a:off x="7195237" y="59450"/>
            <a:ext cx="1893770" cy="631257"/>
          </a:xfrm>
          <a:prstGeom prst="rect">
            <a:avLst/>
          </a:prstGeom>
        </p:spPr>
      </p:pic>
      <p:sp>
        <p:nvSpPr>
          <p:cNvPr id="8" name="TextBox 7">
            <a:extLst>
              <a:ext uri="{FF2B5EF4-FFF2-40B4-BE49-F238E27FC236}">
                <a16:creationId xmlns:a16="http://schemas.microsoft.com/office/drawing/2014/main" id="{E87DC0E5-BA17-24CB-8B77-D83F822B5789}"/>
              </a:ext>
            </a:extLst>
          </p:cNvPr>
          <p:cNvSpPr txBox="1"/>
          <p:nvPr/>
        </p:nvSpPr>
        <p:spPr>
          <a:xfrm>
            <a:off x="7113178" y="4783210"/>
            <a:ext cx="2057887" cy="184666"/>
          </a:xfrm>
          <a:prstGeom prst="rect">
            <a:avLst/>
          </a:prstGeom>
          <a:noFill/>
        </p:spPr>
        <p:txBody>
          <a:bodyPr wrap="square">
            <a:spAutoFit/>
          </a:bodyPr>
          <a:lstStyle/>
          <a:p>
            <a:r>
              <a:rPr lang="en-IN" sz="600" dirty="0"/>
              <a:t>https://dermnetnz.org/topics/leprosy</a:t>
            </a:r>
          </a:p>
        </p:txBody>
      </p:sp>
      <p:sp>
        <p:nvSpPr>
          <p:cNvPr id="3" name="TextBox 2">
            <a:extLst>
              <a:ext uri="{FF2B5EF4-FFF2-40B4-BE49-F238E27FC236}">
                <a16:creationId xmlns:a16="http://schemas.microsoft.com/office/drawing/2014/main" id="{6064BB72-0517-4A94-435A-32111FDA31F4}"/>
              </a:ext>
            </a:extLst>
          </p:cNvPr>
          <p:cNvSpPr txBox="1"/>
          <p:nvPr/>
        </p:nvSpPr>
        <p:spPr>
          <a:xfrm>
            <a:off x="2901821" y="540812"/>
            <a:ext cx="3144416"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Cardinal signs</a:t>
            </a:r>
            <a:r>
              <a:rPr lang="en-IN" sz="3600" dirty="0">
                <a:latin typeface="Times New Roman" panose="02020603050405020304" pitchFamily="18" charset="0"/>
                <a:cs typeface="Times New Roman" panose="02020603050405020304" pitchFamily="18" charset="0"/>
              </a:rPr>
              <a:t> </a:t>
            </a:r>
            <a:endParaRPr lang="en-IN" sz="3600" dirty="0"/>
          </a:p>
        </p:txBody>
      </p:sp>
    </p:spTree>
    <p:extLst>
      <p:ext uri="{BB962C8B-B14F-4D97-AF65-F5344CB8AC3E}">
        <p14:creationId xmlns:p14="http://schemas.microsoft.com/office/powerpoint/2010/main" val="334604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Ridley–Jopling classification and the relationship with host... | Download Scientific Diagram">
            <a:extLst>
              <a:ext uri="{FF2B5EF4-FFF2-40B4-BE49-F238E27FC236}">
                <a16:creationId xmlns:a16="http://schemas.microsoft.com/office/drawing/2014/main" id="{13543365-A63F-D69B-4BEB-084A41F0F97F}"/>
              </a:ext>
            </a:extLst>
          </p:cNvPr>
          <p:cNvPicPr>
            <a:picLocks noChangeAspect="1"/>
          </p:cNvPicPr>
          <p:nvPr/>
        </p:nvPicPr>
        <p:blipFill>
          <a:blip r:embed="rId2"/>
          <a:stretch>
            <a:fillRect/>
          </a:stretch>
        </p:blipFill>
        <p:spPr>
          <a:xfrm>
            <a:off x="674623" y="1412557"/>
            <a:ext cx="7569728" cy="4791413"/>
          </a:xfrm>
          <a:prstGeom prst="rect">
            <a:avLst/>
          </a:prstGeom>
        </p:spPr>
      </p:pic>
      <p:sp>
        <p:nvSpPr>
          <p:cNvPr id="3" name="TextBox 2">
            <a:extLst>
              <a:ext uri="{FF2B5EF4-FFF2-40B4-BE49-F238E27FC236}">
                <a16:creationId xmlns:a16="http://schemas.microsoft.com/office/drawing/2014/main" id="{4A11EA71-87DA-6B41-D2CF-A951F2CD826C}"/>
              </a:ext>
            </a:extLst>
          </p:cNvPr>
          <p:cNvSpPr txBox="1"/>
          <p:nvPr/>
        </p:nvSpPr>
        <p:spPr>
          <a:xfrm>
            <a:off x="1619555" y="6456784"/>
            <a:ext cx="6104556" cy="523220"/>
          </a:xfrm>
          <a:prstGeom prst="rect">
            <a:avLst/>
          </a:prstGeom>
          <a:noFill/>
        </p:spPr>
        <p:txBody>
          <a:bodyPr wrap="none" rtlCol="0">
            <a:spAutoFit/>
          </a:bodyPr>
          <a:lstStyle/>
          <a:p>
            <a:r>
              <a:rPr lang="en-US" sz="1400" b="1" dirty="0">
                <a:latin typeface="Times New Roman" panose="02020603050405020304" pitchFamily="18" charset="0"/>
                <a:cs typeface="Times New Roman" panose="02020603050405020304" pitchFamily="18" charset="0"/>
              </a:rPr>
              <a:t>Fig 5:- </a:t>
            </a:r>
            <a:r>
              <a:rPr lang="en-IN" sz="1400" dirty="0">
                <a:latin typeface="Times New Roman" panose="02020603050405020304" pitchFamily="18" charset="0"/>
                <a:cs typeface="Times New Roman" panose="02020603050405020304" pitchFamily="18" charset="0"/>
              </a:rPr>
              <a:t>The Ridley–Jopling classification and the relationship with host immunity</a:t>
            </a:r>
            <a:r>
              <a:rPr lang="en-IN" sz="1400" b="1" dirty="0">
                <a:latin typeface="Times New Roman" panose="02020603050405020304" pitchFamily="18" charset="0"/>
                <a:cs typeface="Times New Roman" panose="02020603050405020304" pitchFamily="18" charset="0"/>
              </a:rPr>
              <a:t>.</a:t>
            </a:r>
          </a:p>
          <a:p>
            <a:endParaRPr lang="en-IN" sz="1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22A7871-83E2-C332-BB3E-83A3B7DCA14B}"/>
              </a:ext>
            </a:extLst>
          </p:cNvPr>
          <p:cNvPicPr>
            <a:picLocks noChangeAspect="1"/>
          </p:cNvPicPr>
          <p:nvPr/>
        </p:nvPicPr>
        <p:blipFill>
          <a:blip r:embed="rId3"/>
          <a:stretch>
            <a:fillRect/>
          </a:stretch>
        </p:blipFill>
        <p:spPr>
          <a:xfrm>
            <a:off x="33632" y="0"/>
            <a:ext cx="1281983" cy="863978"/>
          </a:xfrm>
          <a:prstGeom prst="rect">
            <a:avLst/>
          </a:prstGeom>
        </p:spPr>
      </p:pic>
      <p:pic>
        <p:nvPicPr>
          <p:cNvPr id="9" name="Picture 8" descr="The Leprosy Mission Trust India">
            <a:extLst>
              <a:ext uri="{FF2B5EF4-FFF2-40B4-BE49-F238E27FC236}">
                <a16:creationId xmlns:a16="http://schemas.microsoft.com/office/drawing/2014/main" id="{369762EB-3DA0-A6C2-B4E2-BB2699C12A59}"/>
              </a:ext>
            </a:extLst>
          </p:cNvPr>
          <p:cNvPicPr>
            <a:picLocks noChangeAspect="1"/>
          </p:cNvPicPr>
          <p:nvPr/>
        </p:nvPicPr>
        <p:blipFill>
          <a:blip r:embed="rId4"/>
          <a:stretch>
            <a:fillRect/>
          </a:stretch>
        </p:blipFill>
        <p:spPr>
          <a:xfrm>
            <a:off x="7195237" y="59450"/>
            <a:ext cx="1893770" cy="631257"/>
          </a:xfrm>
          <a:prstGeom prst="rect">
            <a:avLst/>
          </a:prstGeom>
        </p:spPr>
      </p:pic>
      <p:sp>
        <p:nvSpPr>
          <p:cNvPr id="5" name="TextBox 4">
            <a:extLst>
              <a:ext uri="{FF2B5EF4-FFF2-40B4-BE49-F238E27FC236}">
                <a16:creationId xmlns:a16="http://schemas.microsoft.com/office/drawing/2014/main" id="{2E055B30-BABA-9EFF-095F-3B8FAC328CE7}"/>
              </a:ext>
            </a:extLst>
          </p:cNvPr>
          <p:cNvSpPr txBox="1"/>
          <p:nvPr/>
        </p:nvSpPr>
        <p:spPr>
          <a:xfrm>
            <a:off x="2481942" y="6179785"/>
            <a:ext cx="4572000" cy="276999"/>
          </a:xfrm>
          <a:prstGeom prst="rect">
            <a:avLst/>
          </a:prstGeom>
          <a:noFill/>
        </p:spPr>
        <p:txBody>
          <a:bodyPr wrap="square">
            <a:spAutoFit/>
          </a:bodyPr>
          <a:lstStyle/>
          <a:p>
            <a:r>
              <a:rPr lang="en-IN" sz="600" dirty="0"/>
              <a:t>https://www.researchgate.net/publication/6706057_The_clinical_and_immunological_features_of_leprosy/figures?lo=1&amp;utm_source=google&amp;utm_medium=organic</a:t>
            </a:r>
          </a:p>
        </p:txBody>
      </p:sp>
      <p:sp>
        <p:nvSpPr>
          <p:cNvPr id="7" name="TextBox 6">
            <a:extLst>
              <a:ext uri="{FF2B5EF4-FFF2-40B4-BE49-F238E27FC236}">
                <a16:creationId xmlns:a16="http://schemas.microsoft.com/office/drawing/2014/main" id="{53A15329-8BB6-223B-6403-7C9DEAE1CC31}"/>
              </a:ext>
            </a:extLst>
          </p:cNvPr>
          <p:cNvSpPr txBox="1"/>
          <p:nvPr/>
        </p:nvSpPr>
        <p:spPr>
          <a:xfrm>
            <a:off x="2127379" y="277314"/>
            <a:ext cx="4926563"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Reaction According to The R-J classification </a:t>
            </a:r>
            <a:endParaRPr lang="en-IN" b="1" dirty="0"/>
          </a:p>
        </p:txBody>
      </p:sp>
    </p:spTree>
    <p:extLst>
      <p:ext uri="{BB962C8B-B14F-4D97-AF65-F5344CB8AC3E}">
        <p14:creationId xmlns:p14="http://schemas.microsoft.com/office/powerpoint/2010/main" val="371759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EAB8-43B2-ED8F-4ACC-34EF7830A46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0D897C-CF1A-61A8-B963-9B9F4E7A35FD}"/>
              </a:ext>
            </a:extLst>
          </p:cNvPr>
          <p:cNvGraphicFramePr>
            <a:graphicFrameLocks noGrp="1"/>
          </p:cNvGraphicFramePr>
          <p:nvPr/>
        </p:nvGraphicFramePr>
        <p:xfrm>
          <a:off x="153954" y="1396461"/>
          <a:ext cx="8836089" cy="4693002"/>
        </p:xfrm>
        <a:graphic>
          <a:graphicData uri="http://schemas.openxmlformats.org/drawingml/2006/table">
            <a:tbl>
              <a:tblPr/>
              <a:tblGrid>
                <a:gridCol w="2933317">
                  <a:extLst>
                    <a:ext uri="{9D8B030D-6E8A-4147-A177-3AD203B41FA5}">
                      <a16:colId xmlns:a16="http://schemas.microsoft.com/office/drawing/2014/main" val="522590550"/>
                    </a:ext>
                  </a:extLst>
                </a:gridCol>
                <a:gridCol w="2951386">
                  <a:extLst>
                    <a:ext uri="{9D8B030D-6E8A-4147-A177-3AD203B41FA5}">
                      <a16:colId xmlns:a16="http://schemas.microsoft.com/office/drawing/2014/main" val="1816887661"/>
                    </a:ext>
                  </a:extLst>
                </a:gridCol>
                <a:gridCol w="2951386">
                  <a:extLst>
                    <a:ext uri="{9D8B030D-6E8A-4147-A177-3AD203B41FA5}">
                      <a16:colId xmlns:a16="http://schemas.microsoft.com/office/drawing/2014/main" val="3520041148"/>
                    </a:ext>
                  </a:extLst>
                </a:gridCol>
              </a:tblGrid>
              <a:tr h="397147">
                <a:tc>
                  <a:txBody>
                    <a:bodyPr/>
                    <a:lstStyle/>
                    <a:p>
                      <a:pPr algn="ctr">
                        <a:buNone/>
                      </a:pPr>
                      <a:r>
                        <a:rPr lang="en-IN" sz="1600" b="1" dirty="0">
                          <a:latin typeface="Times New Roman" panose="02020603050405020304" pitchFamily="18" charset="0"/>
                          <a:cs typeface="Times New Roman" panose="02020603050405020304" pitchFamily="18" charset="0"/>
                        </a:rPr>
                        <a:t>Feature</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a:latin typeface="Times New Roman" panose="02020603050405020304" pitchFamily="18" charset="0"/>
                          <a:cs typeface="Times New Roman" panose="02020603050405020304" pitchFamily="18" charset="0"/>
                        </a:rPr>
                        <a:t>Type 1 Reaction (Reversal Reaction)</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a:latin typeface="Times New Roman" panose="02020603050405020304" pitchFamily="18" charset="0"/>
                          <a:cs typeface="Times New Roman" panose="02020603050405020304" pitchFamily="18" charset="0"/>
                        </a:rPr>
                        <a:t>Type 2 Reaction (ENL)</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128399"/>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Hypersensitivity Type</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0">
                          <a:latin typeface="Times New Roman" panose="02020603050405020304" pitchFamily="18" charset="0"/>
                          <a:cs typeface="Times New Roman" panose="02020603050405020304" pitchFamily="18" charset="0"/>
                        </a:rPr>
                        <a:t>Type IV (Delayed hypersensitivity)</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0" dirty="0">
                          <a:latin typeface="Times New Roman" panose="02020603050405020304" pitchFamily="18" charset="0"/>
                          <a:cs typeface="Times New Roman" panose="02020603050405020304" pitchFamily="18" charset="0"/>
                        </a:rPr>
                        <a:t>Type III (Immune complex hypersensitivity)</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8997542"/>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Immune Response</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Change in cell-mediated immunity</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Immune complexes form and deposit in tissues</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3624788"/>
                  </a:ext>
                </a:extLst>
              </a:tr>
              <a:tr h="234628">
                <a:tc>
                  <a:txBody>
                    <a:bodyPr/>
                    <a:lstStyle/>
                    <a:p>
                      <a:pPr algn="ctr">
                        <a:buNone/>
                      </a:pPr>
                      <a:r>
                        <a:rPr lang="en-IN" sz="1600" b="1">
                          <a:latin typeface="Times New Roman" panose="02020603050405020304" pitchFamily="18" charset="0"/>
                          <a:cs typeface="Times New Roman" panose="02020603050405020304" pitchFamily="18" charset="0"/>
                        </a:rPr>
                        <a:t>Occurs In</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latin typeface="Times New Roman" panose="02020603050405020304" pitchFamily="18" charset="0"/>
                          <a:cs typeface="Times New Roman" panose="02020603050405020304" pitchFamily="18" charset="0"/>
                        </a:rPr>
                        <a:t>BT, BB, BL</a:t>
                      </a:r>
                      <a:r>
                        <a:rPr lang="en-IN" sz="1600" dirty="0">
                          <a:latin typeface="Times New Roman" panose="02020603050405020304" pitchFamily="18" charset="0"/>
                          <a:cs typeface="Times New Roman" panose="02020603050405020304" pitchFamily="18" charset="0"/>
                        </a:rPr>
                        <a:t> (Borderline leprosy)</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Mainly </a:t>
                      </a:r>
                      <a:r>
                        <a:rPr lang="en-IN" sz="1600" b="1">
                          <a:latin typeface="Times New Roman" panose="02020603050405020304" pitchFamily="18" charset="0"/>
                          <a:cs typeface="Times New Roman" panose="02020603050405020304" pitchFamily="18" charset="0"/>
                        </a:rPr>
                        <a:t>LL</a:t>
                      </a:r>
                      <a:r>
                        <a:rPr lang="en-IN" sz="1600">
                          <a:latin typeface="Times New Roman" panose="02020603050405020304" pitchFamily="18" charset="0"/>
                          <a:cs typeface="Times New Roman" panose="02020603050405020304" pitchFamily="18" charset="0"/>
                        </a:rPr>
                        <a:t>, sometimes </a:t>
                      </a:r>
                      <a:r>
                        <a:rPr lang="en-IN" sz="1600" b="1">
                          <a:latin typeface="Times New Roman" panose="02020603050405020304" pitchFamily="18" charset="0"/>
                          <a:cs typeface="Times New Roman" panose="02020603050405020304" pitchFamily="18" charset="0"/>
                        </a:rPr>
                        <a:t>BL</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489491"/>
                  </a:ext>
                </a:extLst>
              </a:tr>
              <a:tr h="397147">
                <a:tc>
                  <a:txBody>
                    <a:bodyPr/>
                    <a:lstStyle/>
                    <a:p>
                      <a:pPr algn="ctr">
                        <a:buNone/>
                      </a:pPr>
                      <a:r>
                        <a:rPr lang="en-IN" sz="1600" b="1" dirty="0">
                          <a:latin typeface="Times New Roman" panose="02020603050405020304" pitchFamily="18" charset="0"/>
                          <a:cs typeface="Times New Roman" panose="02020603050405020304" pitchFamily="18" charset="0"/>
                        </a:rPr>
                        <a:t>Other Name</a:t>
                      </a:r>
                      <a:endParaRPr lang="en-IN" sz="1600" dirty="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Reversal Reaction</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Erythema Nodosum Leprosum (ENL)</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5235976"/>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Effect on Disease</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Disease may improve (upgrading) or worsen (downgrading)</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Sudden inflammatory attacks with systemic symptoms</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8140137"/>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When It Occurs</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Usually during the first year of MDT</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Before, during, or after MDT; often in the first year</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116352"/>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Skin Changes</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Existing skin lesions become red, swollen, and painful</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a:latin typeface="Times New Roman" panose="02020603050405020304" pitchFamily="18" charset="0"/>
                          <a:cs typeface="Times New Roman" panose="02020603050405020304" pitchFamily="18" charset="0"/>
                        </a:rPr>
                        <a:t>New painful red nodules appear</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101206"/>
                  </a:ext>
                </a:extLst>
              </a:tr>
              <a:tr h="397147">
                <a:tc>
                  <a:txBody>
                    <a:bodyPr/>
                    <a:lstStyle/>
                    <a:p>
                      <a:pPr algn="ctr">
                        <a:buNone/>
                      </a:pPr>
                      <a:r>
                        <a:rPr lang="en-IN" sz="1600" b="1">
                          <a:latin typeface="Times New Roman" panose="02020603050405020304" pitchFamily="18" charset="0"/>
                          <a:cs typeface="Times New Roman" panose="02020603050405020304" pitchFamily="18" charset="0"/>
                        </a:rPr>
                        <a:t>Nerve Involvement</a:t>
                      </a:r>
                      <a:endParaRPr lang="en-IN" sz="1600">
                        <a:latin typeface="Times New Roman" panose="02020603050405020304" pitchFamily="18" charset="0"/>
                        <a:cs typeface="Times New Roman" panose="02020603050405020304" pitchFamily="18" charset="0"/>
                      </a:endParaRP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latin typeface="Times New Roman" panose="02020603050405020304" pitchFamily="18" charset="0"/>
                          <a:cs typeface="Times New Roman" panose="02020603050405020304" pitchFamily="18" charset="0"/>
                        </a:rPr>
                        <a:t>Common and severe</a:t>
                      </a:r>
                      <a:r>
                        <a:rPr lang="en-IN" sz="1600" dirty="0">
                          <a:latin typeface="Times New Roman" panose="02020603050405020304" pitchFamily="18" charset="0"/>
                          <a:cs typeface="Times New Roman" panose="02020603050405020304" pitchFamily="18" charset="0"/>
                        </a:rPr>
                        <a:t>; can cause nerve damage</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Less common and less severe</a:t>
                      </a:r>
                    </a:p>
                  </a:txBody>
                  <a:tcPr marL="60858" marR="60858" marT="30429" marB="304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5208056"/>
                  </a:ext>
                </a:extLst>
              </a:tr>
            </a:tbl>
          </a:graphicData>
        </a:graphic>
      </p:graphicFrame>
      <p:sp>
        <p:nvSpPr>
          <p:cNvPr id="4" name="TextBox 3">
            <a:extLst>
              <a:ext uri="{FF2B5EF4-FFF2-40B4-BE49-F238E27FC236}">
                <a16:creationId xmlns:a16="http://schemas.microsoft.com/office/drawing/2014/main" id="{92D34E55-D42A-7331-7E88-261B8C1BFB8A}"/>
              </a:ext>
            </a:extLst>
          </p:cNvPr>
          <p:cNvSpPr txBox="1"/>
          <p:nvPr/>
        </p:nvSpPr>
        <p:spPr>
          <a:xfrm>
            <a:off x="2607808" y="233265"/>
            <a:ext cx="3928384" cy="707886"/>
          </a:xfrm>
          <a:prstGeom prst="rect">
            <a:avLst/>
          </a:prstGeom>
          <a:noFill/>
        </p:spPr>
        <p:txBody>
          <a:bodyPr wrap="none" rtlCol="0">
            <a:spAutoFit/>
          </a:bodyPr>
          <a:lstStyle/>
          <a:p>
            <a:pPr algn="ctr"/>
            <a:r>
              <a:rPr lang="en-US" sz="4000" b="1" dirty="0">
                <a:latin typeface="Times New Roman" panose="02020603050405020304" pitchFamily="18" charset="0"/>
                <a:cs typeface="Times New Roman" panose="02020603050405020304" pitchFamily="18" charset="0"/>
              </a:rPr>
              <a:t>Types of reaction</a:t>
            </a:r>
            <a:endParaRPr lang="en-IN" sz="4000" b="1" dirty="0">
              <a:latin typeface="Times New Roman" panose="02020603050405020304" pitchFamily="18" charset="0"/>
              <a:cs typeface="Times New Roman" panose="02020603050405020304" pitchFamily="18" charset="0"/>
            </a:endParaRPr>
          </a:p>
        </p:txBody>
      </p:sp>
      <p:pic>
        <p:nvPicPr>
          <p:cNvPr id="6" name="Picture 5" descr="The Leprosy Mission Trust India">
            <a:extLst>
              <a:ext uri="{FF2B5EF4-FFF2-40B4-BE49-F238E27FC236}">
                <a16:creationId xmlns:a16="http://schemas.microsoft.com/office/drawing/2014/main" id="{509601CA-64F2-7231-2980-CB181500417A}"/>
              </a:ext>
            </a:extLst>
          </p:cNvPr>
          <p:cNvPicPr>
            <a:picLocks noChangeAspect="1"/>
          </p:cNvPicPr>
          <p:nvPr/>
        </p:nvPicPr>
        <p:blipFill>
          <a:blip r:embed="rId2"/>
          <a:stretch>
            <a:fillRect/>
          </a:stretch>
        </p:blipFill>
        <p:spPr>
          <a:xfrm>
            <a:off x="7195237" y="91440"/>
            <a:ext cx="1893770" cy="631257"/>
          </a:xfrm>
          <a:prstGeom prst="rect">
            <a:avLst/>
          </a:prstGeom>
        </p:spPr>
      </p:pic>
      <p:pic>
        <p:nvPicPr>
          <p:cNvPr id="7" name="Picture 6">
            <a:extLst>
              <a:ext uri="{FF2B5EF4-FFF2-40B4-BE49-F238E27FC236}">
                <a16:creationId xmlns:a16="http://schemas.microsoft.com/office/drawing/2014/main" id="{F5B0F8D6-2987-5474-C4B2-DFECE7EAEA45}"/>
              </a:ext>
            </a:extLst>
          </p:cNvPr>
          <p:cNvPicPr>
            <a:picLocks noChangeAspect="1"/>
          </p:cNvPicPr>
          <p:nvPr/>
        </p:nvPicPr>
        <p:blipFill>
          <a:blip r:embed="rId3"/>
          <a:stretch>
            <a:fillRect/>
          </a:stretch>
        </p:blipFill>
        <p:spPr>
          <a:xfrm>
            <a:off x="33632" y="0"/>
            <a:ext cx="1281983" cy="863978"/>
          </a:xfrm>
          <a:prstGeom prst="rect">
            <a:avLst/>
          </a:prstGeom>
        </p:spPr>
      </p:pic>
    </p:spTree>
    <p:extLst>
      <p:ext uri="{BB962C8B-B14F-4D97-AF65-F5344CB8AC3E}">
        <p14:creationId xmlns:p14="http://schemas.microsoft.com/office/powerpoint/2010/main" val="209250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CA66B-E502-FE39-260F-531A652231EC}"/>
              </a:ext>
            </a:extLst>
          </p:cNvPr>
          <p:cNvSpPr txBox="1"/>
          <p:nvPr/>
        </p:nvSpPr>
        <p:spPr>
          <a:xfrm>
            <a:off x="203084" y="1219966"/>
            <a:ext cx="8371840" cy="3674339"/>
          </a:xfrm>
          <a:prstGeom prst="rect">
            <a:avLst/>
          </a:prstGeom>
          <a:noFill/>
        </p:spPr>
        <p:txBody>
          <a:bodyPr wrap="square">
            <a:spAutoFit/>
          </a:bodyPr>
          <a:lstStyle/>
          <a:p>
            <a:pPr marL="285750" indent="-285750" algn="just">
              <a:lnSpc>
                <a:spcPct val="150000"/>
              </a:lnSpc>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As we found Previous studies have demonstrated the persistence of viable </a:t>
            </a:r>
            <a:r>
              <a:rPr lang="en-IN" i="1" dirty="0">
                <a:latin typeface="Times New Roman" panose="02020603050405020304" pitchFamily="18" charset="0"/>
                <a:cs typeface="Times New Roman" panose="02020603050405020304" pitchFamily="18" charset="0"/>
              </a:rPr>
              <a:t>M. leprae</a:t>
            </a:r>
            <a:r>
              <a:rPr lang="en-IN" dirty="0">
                <a:latin typeface="Times New Roman" panose="02020603050405020304" pitchFamily="18" charset="0"/>
                <a:cs typeface="Times New Roman" panose="02020603050405020304" pitchFamily="18" charset="0"/>
              </a:rPr>
              <a:t> in some multibacillary patients despite MDT; however, the viability status of bacilli in different clinical conditions remains unclear. </a:t>
            </a:r>
          </a:p>
          <a:p>
            <a:pPr marL="285750" indent="-285750" algn="just">
              <a:lnSpc>
                <a:spcPct val="150000"/>
              </a:lnSpc>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impact of </a:t>
            </a:r>
            <a:r>
              <a:rPr lang="en-IN" b="1" dirty="0">
                <a:latin typeface="Times New Roman" panose="02020603050405020304" pitchFamily="18" charset="0"/>
                <a:cs typeface="Times New Roman" panose="02020603050405020304" pitchFamily="18" charset="0"/>
              </a:rPr>
              <a:t>absence of treatment (new cases), interrupted treatment (defaulters), recurrence after RFT (relapse), and reactional episodes</a:t>
            </a:r>
            <a:r>
              <a:rPr lang="en-IN" dirty="0">
                <a:latin typeface="Times New Roman" panose="02020603050405020304" pitchFamily="18" charset="0"/>
                <a:cs typeface="Times New Roman" panose="02020603050405020304" pitchFamily="18" charset="0"/>
              </a:rPr>
              <a:t> on the viable load whether these differences reflect ongoing bacterial activity.. </a:t>
            </a:r>
          </a:p>
          <a:p>
            <a:pPr marL="285750" indent="-285750" algn="just">
              <a:lnSpc>
                <a:spcPct val="150000"/>
              </a:lnSpc>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Molecular viability markers such as </a:t>
            </a:r>
            <a:r>
              <a:rPr lang="en-IN" b="1" dirty="0">
                <a:latin typeface="Times New Roman" panose="02020603050405020304" pitchFamily="18" charset="0"/>
                <a:cs typeface="Times New Roman" panose="02020603050405020304" pitchFamily="18" charset="0"/>
              </a:rPr>
              <a:t>16S rRNA, esxA, and hsp18</a:t>
            </a:r>
            <a:r>
              <a:rPr lang="en-IN" dirty="0">
                <a:latin typeface="Times New Roman" panose="02020603050405020304" pitchFamily="18" charset="0"/>
                <a:cs typeface="Times New Roman" panose="02020603050405020304" pitchFamily="18" charset="0"/>
              </a:rPr>
              <a:t> can be used to quantify viable bacilli and assess ongoing bacterial activity.</a:t>
            </a:r>
          </a:p>
        </p:txBody>
      </p:sp>
      <p:pic>
        <p:nvPicPr>
          <p:cNvPr id="5" name="Picture 4">
            <a:extLst>
              <a:ext uri="{FF2B5EF4-FFF2-40B4-BE49-F238E27FC236}">
                <a16:creationId xmlns:a16="http://schemas.microsoft.com/office/drawing/2014/main" id="{17E59B44-971A-1EA8-B297-3B44EC8C1F9F}"/>
              </a:ext>
            </a:extLst>
          </p:cNvPr>
          <p:cNvPicPr>
            <a:picLocks noChangeAspect="1"/>
          </p:cNvPicPr>
          <p:nvPr/>
        </p:nvPicPr>
        <p:blipFill>
          <a:blip r:embed="rId2"/>
          <a:stretch>
            <a:fillRect/>
          </a:stretch>
        </p:blipFill>
        <p:spPr>
          <a:xfrm>
            <a:off x="33632" y="0"/>
            <a:ext cx="1281983" cy="863978"/>
          </a:xfrm>
          <a:prstGeom prst="rect">
            <a:avLst/>
          </a:prstGeom>
        </p:spPr>
      </p:pic>
      <p:pic>
        <p:nvPicPr>
          <p:cNvPr id="7" name="Picture 6" descr="The Leprosy Mission Trust India">
            <a:extLst>
              <a:ext uri="{FF2B5EF4-FFF2-40B4-BE49-F238E27FC236}">
                <a16:creationId xmlns:a16="http://schemas.microsoft.com/office/drawing/2014/main" id="{26861914-6E5C-4EE0-65D1-8AB03270B9C4}"/>
              </a:ext>
            </a:extLst>
          </p:cNvPr>
          <p:cNvPicPr>
            <a:picLocks noChangeAspect="1"/>
          </p:cNvPicPr>
          <p:nvPr/>
        </p:nvPicPr>
        <p:blipFill>
          <a:blip r:embed="rId3"/>
          <a:stretch>
            <a:fillRect/>
          </a:stretch>
        </p:blipFill>
        <p:spPr>
          <a:xfrm>
            <a:off x="7195237" y="59450"/>
            <a:ext cx="1893770" cy="631257"/>
          </a:xfrm>
          <a:prstGeom prst="rect">
            <a:avLst/>
          </a:prstGeom>
        </p:spPr>
      </p:pic>
      <p:sp>
        <p:nvSpPr>
          <p:cNvPr id="8" name="TextBox 7">
            <a:extLst>
              <a:ext uri="{FF2B5EF4-FFF2-40B4-BE49-F238E27FC236}">
                <a16:creationId xmlns:a16="http://schemas.microsoft.com/office/drawing/2014/main" id="{BB057377-6A2F-E5DE-648D-E5480B75822F}"/>
              </a:ext>
            </a:extLst>
          </p:cNvPr>
          <p:cNvSpPr txBox="1"/>
          <p:nvPr/>
        </p:nvSpPr>
        <p:spPr>
          <a:xfrm>
            <a:off x="3130580" y="336764"/>
            <a:ext cx="2882840"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Background</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30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45F8B30-BA6B-55A2-BACC-004FE473EBF3}"/>
              </a:ext>
            </a:extLst>
          </p:cNvPr>
          <p:cNvSpPr txBox="1"/>
          <p:nvPr/>
        </p:nvSpPr>
        <p:spPr>
          <a:xfrm>
            <a:off x="39330" y="1292099"/>
            <a:ext cx="9470571" cy="5463034"/>
          </a:xfrm>
          <a:prstGeom prst="rect">
            <a:avLst/>
          </a:prstGeom>
          <a:noFill/>
        </p:spPr>
        <p:txBody>
          <a:bodyPr wrap="square">
            <a:spAutoFit/>
          </a:bodyPr>
          <a:lstStyle/>
          <a:p>
            <a:pPr marL="342900" indent="-342900">
              <a:spcBef>
                <a:spcPts val="600"/>
              </a:spcBef>
              <a:spcAft>
                <a:spcPts val="600"/>
              </a:spcAft>
              <a:buFont typeface="+mj-lt"/>
              <a:buAutoNum type="arabicPeriod"/>
            </a:pPr>
            <a:r>
              <a:rPr lang="en-IN" b="1" i="1" dirty="0">
                <a:latin typeface="Times New Roman" panose="02020603050405020304" pitchFamily="18" charset="0"/>
                <a:cs typeface="Times New Roman" panose="02020603050405020304" pitchFamily="18" charset="0"/>
              </a:rPr>
              <a:t>hsp18 (Heat Shock Protein 18)</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Encodes a small heat shock (18-kDa chaperone) protein. </a:t>
            </a:r>
          </a:p>
          <a:p>
            <a:pPr marL="742950" lvl="1" indent="-285750">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Protects </a:t>
            </a:r>
            <a:r>
              <a:rPr lang="en-IN" i="1" dirty="0">
                <a:latin typeface="Times New Roman" panose="02020603050405020304" pitchFamily="18" charset="0"/>
                <a:cs typeface="Times New Roman" panose="02020603050405020304" pitchFamily="18" charset="0"/>
              </a:rPr>
              <a:t>M. leprae</a:t>
            </a:r>
            <a:r>
              <a:rPr lang="en-IN" dirty="0">
                <a:latin typeface="Times New Roman" panose="02020603050405020304" pitchFamily="18" charset="0"/>
                <a:cs typeface="Times New Roman" panose="02020603050405020304" pitchFamily="18" charset="0"/>
              </a:rPr>
              <a:t> proteins during stress and helps bacterial survival. </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Marker of viable, metabolically active bacilli. </a:t>
            </a:r>
          </a:p>
          <a:p>
            <a:pPr marL="342900" indent="-342900">
              <a:spcBef>
                <a:spcPts val="600"/>
              </a:spcBef>
              <a:spcAft>
                <a:spcPts val="600"/>
              </a:spcAft>
              <a:buFont typeface="+mj-lt"/>
              <a:buAutoNum type="arabicPeriod" startAt="2"/>
            </a:pPr>
            <a:r>
              <a:rPr lang="en-IN" b="1" i="1" dirty="0">
                <a:latin typeface="Times New Roman" panose="02020603050405020304" pitchFamily="18" charset="0"/>
                <a:cs typeface="Times New Roman" panose="02020603050405020304" pitchFamily="18" charset="0"/>
              </a:rPr>
              <a:t>esxA (ESAT-6-like Protein)</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Encodes a secreted virulence-associated protein. </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Involved in host–pathogen interaction and pathogenicity. </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Expression indicates active and viable bacteria. </a:t>
            </a:r>
          </a:p>
          <a:p>
            <a:pPr marL="342900" indent="-342900">
              <a:spcBef>
                <a:spcPts val="600"/>
              </a:spcBef>
              <a:spcAft>
                <a:spcPts val="600"/>
              </a:spcAft>
              <a:buFont typeface="+mj-lt"/>
              <a:buAutoNum type="arabicPeriod" startAt="3"/>
            </a:pPr>
            <a:r>
              <a:rPr lang="en-IN" b="1" i="1" dirty="0">
                <a:latin typeface="Times New Roman" panose="02020603050405020304" pitchFamily="18" charset="0"/>
                <a:cs typeface="Times New Roman" panose="02020603050405020304" pitchFamily="18" charset="0"/>
              </a:rPr>
              <a:t>16S rRNA</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Component of the 30S ribosomal subunit. </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Essential for protein synthesis and ribosome function. </a:t>
            </a:r>
          </a:p>
          <a:p>
            <a:pPr marL="742950" lvl="1" indent="-285750">
              <a:spcBef>
                <a:spcPts val="600"/>
              </a:spcBef>
              <a:spcAft>
                <a:spcPts val="60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Sensitive marker for detection and viability of </a:t>
            </a:r>
            <a:r>
              <a:rPr lang="en-IN" i="1" dirty="0">
                <a:latin typeface="Times New Roman" panose="02020603050405020304" pitchFamily="18" charset="0"/>
                <a:cs typeface="Times New Roman" panose="02020603050405020304" pitchFamily="18" charset="0"/>
              </a:rPr>
              <a:t>M. leprae</a:t>
            </a:r>
            <a:r>
              <a:rPr lang="en-IN" dirty="0">
                <a:latin typeface="Times New Roman" panose="02020603050405020304" pitchFamily="18" charset="0"/>
                <a:cs typeface="Times New Roman" panose="02020603050405020304" pitchFamily="18" charset="0"/>
              </a:rPr>
              <a:t>.</a:t>
            </a:r>
          </a:p>
          <a:p>
            <a:pPr>
              <a:spcBef>
                <a:spcPts val="600"/>
              </a:spcBef>
              <a:spcAft>
                <a:spcPts val="60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4" name="Picture 3" descr="The Leprosy Mission Trust India">
            <a:extLst>
              <a:ext uri="{FF2B5EF4-FFF2-40B4-BE49-F238E27FC236}">
                <a16:creationId xmlns:a16="http://schemas.microsoft.com/office/drawing/2014/main" id="{B9788933-AA95-291E-9F9A-E84DBC3E47BC}"/>
              </a:ext>
            </a:extLst>
          </p:cNvPr>
          <p:cNvPicPr>
            <a:picLocks noChangeAspect="1"/>
          </p:cNvPicPr>
          <p:nvPr/>
        </p:nvPicPr>
        <p:blipFill>
          <a:blip r:embed="rId2"/>
          <a:stretch>
            <a:fillRect/>
          </a:stretch>
        </p:blipFill>
        <p:spPr>
          <a:xfrm>
            <a:off x="7195237" y="91440"/>
            <a:ext cx="1893770" cy="631257"/>
          </a:xfrm>
          <a:prstGeom prst="rect">
            <a:avLst/>
          </a:prstGeom>
        </p:spPr>
      </p:pic>
      <p:pic>
        <p:nvPicPr>
          <p:cNvPr id="5" name="Picture 4">
            <a:extLst>
              <a:ext uri="{FF2B5EF4-FFF2-40B4-BE49-F238E27FC236}">
                <a16:creationId xmlns:a16="http://schemas.microsoft.com/office/drawing/2014/main" id="{AF5C3C69-E768-1FD7-3148-58957A43C875}"/>
              </a:ext>
            </a:extLst>
          </p:cNvPr>
          <p:cNvPicPr>
            <a:picLocks noChangeAspect="1"/>
          </p:cNvPicPr>
          <p:nvPr/>
        </p:nvPicPr>
        <p:blipFill>
          <a:blip r:embed="rId3"/>
          <a:stretch>
            <a:fillRect/>
          </a:stretch>
        </p:blipFill>
        <p:spPr>
          <a:xfrm>
            <a:off x="33632" y="0"/>
            <a:ext cx="1281983" cy="863978"/>
          </a:xfrm>
          <a:prstGeom prst="rect">
            <a:avLst/>
          </a:prstGeom>
        </p:spPr>
      </p:pic>
      <p:sp>
        <p:nvSpPr>
          <p:cNvPr id="3" name="TextBox 2">
            <a:extLst>
              <a:ext uri="{FF2B5EF4-FFF2-40B4-BE49-F238E27FC236}">
                <a16:creationId xmlns:a16="http://schemas.microsoft.com/office/drawing/2014/main" id="{AEB80C79-8E78-D0B9-3A59-D26546C26469}"/>
              </a:ext>
            </a:extLst>
          </p:cNvPr>
          <p:cNvSpPr txBox="1"/>
          <p:nvPr/>
        </p:nvSpPr>
        <p:spPr>
          <a:xfrm>
            <a:off x="3216730" y="247323"/>
            <a:ext cx="2866829"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Background</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720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1C53A-3AD4-ACBD-1236-1A1CB4ECB0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2A0CE3-D811-D65E-A6FC-121EA3963ED9}"/>
              </a:ext>
            </a:extLst>
          </p:cNvPr>
          <p:cNvSpPr txBox="1"/>
          <p:nvPr/>
        </p:nvSpPr>
        <p:spPr>
          <a:xfrm>
            <a:off x="386080" y="1582276"/>
            <a:ext cx="8371840" cy="1675267"/>
          </a:xfrm>
          <a:prstGeom prst="rect">
            <a:avLst/>
          </a:prstGeom>
          <a:noFill/>
        </p:spPr>
        <p:txBody>
          <a:bodyPr wrap="square">
            <a:spAutoFit/>
          </a:bodyPr>
          <a:lstStyle/>
          <a:p>
            <a:pPr algn="just">
              <a:lnSpc>
                <a:spcPct val="200000"/>
              </a:lnSpc>
              <a:spcBef>
                <a:spcPts val="600"/>
              </a:spcBef>
              <a:spcAft>
                <a:spcPts val="600"/>
              </a:spcAft>
            </a:pPr>
            <a:r>
              <a:rPr lang="en-IN" dirty="0">
                <a:latin typeface="Times New Roman" panose="02020603050405020304" pitchFamily="18" charset="0"/>
                <a:cs typeface="Times New Roman" panose="02020603050405020304" pitchFamily="18" charset="0"/>
              </a:rPr>
              <a:t>Comparing the viable load of </a:t>
            </a:r>
            <a:r>
              <a:rPr lang="en-IN" i="1" dirty="0">
                <a:latin typeface="Times New Roman" panose="02020603050405020304" pitchFamily="18" charset="0"/>
                <a:cs typeface="Times New Roman" panose="02020603050405020304" pitchFamily="18" charset="0"/>
              </a:rPr>
              <a:t>M. leprae</a:t>
            </a:r>
            <a:r>
              <a:rPr lang="en-IN" dirty="0">
                <a:latin typeface="Times New Roman" panose="02020603050405020304" pitchFamily="18" charset="0"/>
                <a:cs typeface="Times New Roman" panose="02020603050405020304" pitchFamily="18" charset="0"/>
              </a:rPr>
              <a:t> among new, relapse, defaulter, Type 1 reaction, and Type 2 reaction patients may help understand bacterial persistence and its association with different clinical presentations of leprosy.</a:t>
            </a:r>
          </a:p>
        </p:txBody>
      </p:sp>
      <p:pic>
        <p:nvPicPr>
          <p:cNvPr id="5" name="Picture 4">
            <a:extLst>
              <a:ext uri="{FF2B5EF4-FFF2-40B4-BE49-F238E27FC236}">
                <a16:creationId xmlns:a16="http://schemas.microsoft.com/office/drawing/2014/main" id="{EFD9BFED-C24D-5FA2-F0B7-8121F3AFC0F7}"/>
              </a:ext>
            </a:extLst>
          </p:cNvPr>
          <p:cNvPicPr>
            <a:picLocks noChangeAspect="1"/>
          </p:cNvPicPr>
          <p:nvPr/>
        </p:nvPicPr>
        <p:blipFill>
          <a:blip r:embed="rId2"/>
          <a:stretch>
            <a:fillRect/>
          </a:stretch>
        </p:blipFill>
        <p:spPr>
          <a:xfrm>
            <a:off x="33632" y="0"/>
            <a:ext cx="1281983" cy="863978"/>
          </a:xfrm>
          <a:prstGeom prst="rect">
            <a:avLst/>
          </a:prstGeom>
        </p:spPr>
      </p:pic>
      <p:pic>
        <p:nvPicPr>
          <p:cNvPr id="7" name="Picture 6" descr="The Leprosy Mission Trust India">
            <a:extLst>
              <a:ext uri="{FF2B5EF4-FFF2-40B4-BE49-F238E27FC236}">
                <a16:creationId xmlns:a16="http://schemas.microsoft.com/office/drawing/2014/main" id="{D2FBD366-F3F6-2A58-2854-7430EED12DFC}"/>
              </a:ext>
            </a:extLst>
          </p:cNvPr>
          <p:cNvPicPr>
            <a:picLocks noChangeAspect="1"/>
          </p:cNvPicPr>
          <p:nvPr/>
        </p:nvPicPr>
        <p:blipFill>
          <a:blip r:embed="rId3"/>
          <a:stretch>
            <a:fillRect/>
          </a:stretch>
        </p:blipFill>
        <p:spPr>
          <a:xfrm>
            <a:off x="7195237" y="59450"/>
            <a:ext cx="1893770" cy="631257"/>
          </a:xfrm>
          <a:prstGeom prst="rect">
            <a:avLst/>
          </a:prstGeom>
        </p:spPr>
      </p:pic>
      <p:sp>
        <p:nvSpPr>
          <p:cNvPr id="8" name="TextBox 7">
            <a:extLst>
              <a:ext uri="{FF2B5EF4-FFF2-40B4-BE49-F238E27FC236}">
                <a16:creationId xmlns:a16="http://schemas.microsoft.com/office/drawing/2014/main" id="{EC8E7A0E-AA89-5D8F-EA4D-50AE72DBC2BC}"/>
              </a:ext>
            </a:extLst>
          </p:cNvPr>
          <p:cNvSpPr txBox="1"/>
          <p:nvPr/>
        </p:nvSpPr>
        <p:spPr>
          <a:xfrm>
            <a:off x="2033246" y="334086"/>
            <a:ext cx="5161991"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Rationale of the study</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622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29CA-E24E-A4DE-D071-A7EB56A1525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ABDEAB-D839-557A-326A-E8C753B5362E}"/>
              </a:ext>
            </a:extLst>
          </p:cNvPr>
          <p:cNvPicPr>
            <a:picLocks noChangeAspect="1"/>
          </p:cNvPicPr>
          <p:nvPr/>
        </p:nvPicPr>
        <p:blipFill>
          <a:blip r:embed="rId2"/>
          <a:stretch>
            <a:fillRect/>
          </a:stretch>
        </p:blipFill>
        <p:spPr>
          <a:xfrm>
            <a:off x="33632" y="0"/>
            <a:ext cx="1281983" cy="863978"/>
          </a:xfrm>
          <a:prstGeom prst="rect">
            <a:avLst/>
          </a:prstGeom>
        </p:spPr>
      </p:pic>
      <p:pic>
        <p:nvPicPr>
          <p:cNvPr id="7" name="Picture 6" descr="The Leprosy Mission Trust India">
            <a:extLst>
              <a:ext uri="{FF2B5EF4-FFF2-40B4-BE49-F238E27FC236}">
                <a16:creationId xmlns:a16="http://schemas.microsoft.com/office/drawing/2014/main" id="{45AC4F97-4D4C-71E6-77D0-CB044B85747E}"/>
              </a:ext>
            </a:extLst>
          </p:cNvPr>
          <p:cNvPicPr>
            <a:picLocks noChangeAspect="1"/>
          </p:cNvPicPr>
          <p:nvPr/>
        </p:nvPicPr>
        <p:blipFill>
          <a:blip r:embed="rId3"/>
          <a:stretch>
            <a:fillRect/>
          </a:stretch>
        </p:blipFill>
        <p:spPr>
          <a:xfrm>
            <a:off x="7195237" y="59450"/>
            <a:ext cx="1893770" cy="631257"/>
          </a:xfrm>
          <a:prstGeom prst="rect">
            <a:avLst/>
          </a:prstGeom>
        </p:spPr>
      </p:pic>
      <p:sp>
        <p:nvSpPr>
          <p:cNvPr id="8" name="TextBox 7">
            <a:extLst>
              <a:ext uri="{FF2B5EF4-FFF2-40B4-BE49-F238E27FC236}">
                <a16:creationId xmlns:a16="http://schemas.microsoft.com/office/drawing/2014/main" id="{D54C1695-863A-6B43-6226-F76ABD4CBD6A}"/>
              </a:ext>
            </a:extLst>
          </p:cNvPr>
          <p:cNvSpPr txBox="1"/>
          <p:nvPr/>
        </p:nvSpPr>
        <p:spPr>
          <a:xfrm>
            <a:off x="523623" y="963815"/>
            <a:ext cx="1667444"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AIM : </a:t>
            </a:r>
            <a:endParaRPr lang="en-IN" sz="4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18BFDA8-72A0-CFFE-1965-D67EBD113EA4}"/>
              </a:ext>
            </a:extLst>
          </p:cNvPr>
          <p:cNvSpPr txBox="1"/>
          <p:nvPr/>
        </p:nvSpPr>
        <p:spPr>
          <a:xfrm>
            <a:off x="386080" y="1582276"/>
            <a:ext cx="8371840" cy="1121269"/>
          </a:xfrm>
          <a:prstGeom prst="rect">
            <a:avLst/>
          </a:prstGeom>
          <a:noFill/>
        </p:spPr>
        <p:txBody>
          <a:bodyPr wrap="square">
            <a:spAutoFit/>
          </a:bodyPr>
          <a:lstStyle/>
          <a:p>
            <a:pPr algn="just">
              <a:lnSpc>
                <a:spcPct val="200000"/>
              </a:lnSpc>
              <a:spcBef>
                <a:spcPts val="600"/>
              </a:spcBef>
              <a:spcAft>
                <a:spcPts val="600"/>
              </a:spcAft>
            </a:pPr>
            <a:r>
              <a:rPr lang="en-IN" dirty="0">
                <a:latin typeface="Times New Roman" panose="02020603050405020304" pitchFamily="18" charset="0"/>
                <a:cs typeface="Times New Roman" panose="02020603050405020304" pitchFamily="18" charset="0"/>
              </a:rPr>
              <a:t>To evaluate the molecular viability of </a:t>
            </a:r>
            <a:r>
              <a:rPr lang="en-IN" i="1" dirty="0">
                <a:latin typeface="Times New Roman" panose="02020603050405020304" pitchFamily="18" charset="0"/>
                <a:cs typeface="Times New Roman" panose="02020603050405020304" pitchFamily="18" charset="0"/>
              </a:rPr>
              <a:t>Mycobacterium leprae</a:t>
            </a:r>
            <a:r>
              <a:rPr lang="en-IN" dirty="0">
                <a:latin typeface="Times New Roman" panose="02020603050405020304" pitchFamily="18" charset="0"/>
                <a:cs typeface="Times New Roman" panose="02020603050405020304" pitchFamily="18" charset="0"/>
              </a:rPr>
              <a:t> in reactional and non-reactional leprosy patients.</a:t>
            </a:r>
          </a:p>
        </p:txBody>
      </p:sp>
      <p:sp>
        <p:nvSpPr>
          <p:cNvPr id="9" name="TextBox 8">
            <a:extLst>
              <a:ext uri="{FF2B5EF4-FFF2-40B4-BE49-F238E27FC236}">
                <a16:creationId xmlns:a16="http://schemas.microsoft.com/office/drawing/2014/main" id="{0E8B0197-CD65-6E7E-3F09-9BC395BB8879}"/>
              </a:ext>
            </a:extLst>
          </p:cNvPr>
          <p:cNvSpPr txBox="1"/>
          <p:nvPr/>
        </p:nvSpPr>
        <p:spPr>
          <a:xfrm>
            <a:off x="481893" y="2968063"/>
            <a:ext cx="3860352"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OBJECTIVES : </a:t>
            </a:r>
            <a:endParaRPr lang="en-IN" sz="4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5D187D5-D3E4-98C4-BD32-4EB6567AE249}"/>
              </a:ext>
            </a:extLst>
          </p:cNvPr>
          <p:cNvSpPr txBox="1"/>
          <p:nvPr/>
        </p:nvSpPr>
        <p:spPr>
          <a:xfrm>
            <a:off x="386080" y="3802444"/>
            <a:ext cx="8371840" cy="1823833"/>
          </a:xfrm>
          <a:prstGeom prst="rect">
            <a:avLst/>
          </a:prstGeom>
          <a:noFill/>
        </p:spPr>
        <p:txBody>
          <a:bodyPr wrap="square">
            <a:spAutoFit/>
          </a:bodyPr>
          <a:lstStyle/>
          <a:p>
            <a:pPr marL="285750" indent="-285750">
              <a:lnSpc>
                <a:spcPct val="200000"/>
              </a:lnSpc>
              <a:spcBef>
                <a:spcPts val="600"/>
              </a:spcBef>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check the viable load of </a:t>
            </a:r>
            <a:r>
              <a:rPr lang="en-US" i="1" dirty="0">
                <a:latin typeface="Times New Roman" panose="02020603050405020304" pitchFamily="18" charset="0"/>
                <a:cs typeface="Times New Roman" panose="02020603050405020304" pitchFamily="18" charset="0"/>
              </a:rPr>
              <a:t>M. leprae </a:t>
            </a:r>
            <a:r>
              <a:rPr lang="en-US" dirty="0">
                <a:latin typeface="Times New Roman" panose="02020603050405020304" pitchFamily="18" charset="0"/>
                <a:cs typeface="Times New Roman" panose="02020603050405020304" pitchFamily="18" charset="0"/>
              </a:rPr>
              <a:t>in reaction &amp; non-reaction leprosy patients Using RT PCR.</a:t>
            </a:r>
          </a:p>
          <a:p>
            <a:pPr marL="285750" indent="-285750">
              <a:lnSpc>
                <a:spcPct val="200000"/>
              </a:lnSpc>
              <a:spcBef>
                <a:spcPts val="600"/>
              </a:spcBef>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study the comparative analysis of viable load of bacilli in reaction.</a:t>
            </a:r>
          </a:p>
        </p:txBody>
      </p:sp>
    </p:spTree>
    <p:extLst>
      <p:ext uri="{BB962C8B-B14F-4D97-AF65-F5344CB8AC3E}">
        <p14:creationId xmlns:p14="http://schemas.microsoft.com/office/powerpoint/2010/main" val="122527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6E7772-7411-814A-B914-FDB3375DEE05}"/>
              </a:ext>
            </a:extLst>
          </p:cNvPr>
          <p:cNvSpPr txBox="1"/>
          <p:nvPr/>
        </p:nvSpPr>
        <p:spPr>
          <a:xfrm>
            <a:off x="2286000" y="3244334"/>
            <a:ext cx="4572000" cy="369332"/>
          </a:xfrm>
          <a:prstGeom prst="rect">
            <a:avLst/>
          </a:prstGeom>
          <a:noFill/>
        </p:spPr>
        <p:txBody>
          <a:bodyPr wrap="square">
            <a:spAutoFit/>
          </a:bodyPr>
          <a:lstStyle/>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F143212-3BA1-9B6F-4311-4E3B190F2689}"/>
              </a:ext>
            </a:extLst>
          </p:cNvPr>
          <p:cNvSpPr txBox="1"/>
          <p:nvPr/>
        </p:nvSpPr>
        <p:spPr>
          <a:xfrm>
            <a:off x="2286000" y="3244334"/>
            <a:ext cx="4572000" cy="369332"/>
          </a:xfrm>
          <a:prstGeom prst="rect">
            <a:avLst/>
          </a:prstGeom>
          <a:noFill/>
        </p:spPr>
        <p:txBody>
          <a:bodyPr wrap="square">
            <a:spAutoFit/>
          </a:bodyPr>
          <a:lstStyle/>
          <a:p>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CC8ABC8-E4C2-A719-9DBC-843D22CBE624}"/>
              </a:ext>
            </a:extLst>
          </p:cNvPr>
          <p:cNvSpPr txBox="1"/>
          <p:nvPr/>
        </p:nvSpPr>
        <p:spPr>
          <a:xfrm>
            <a:off x="237930" y="1150691"/>
            <a:ext cx="8668138" cy="535531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Study Type </a:t>
            </a:r>
            <a:r>
              <a:rPr lang="en-US" dirty="0">
                <a:latin typeface="Times New Roman" panose="02020603050405020304" pitchFamily="18" charset="0"/>
                <a:cs typeface="Times New Roman" panose="02020603050405020304" pitchFamily="18" charset="0"/>
              </a:rPr>
              <a:t>: Pilot study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Study Site </a:t>
            </a:r>
            <a:r>
              <a:rPr lang="en-US" dirty="0">
                <a:latin typeface="Times New Roman" panose="02020603050405020304" pitchFamily="18" charset="0"/>
                <a:cs typeface="Times New Roman" panose="02020603050405020304" pitchFamily="18" charset="0"/>
              </a:rPr>
              <a:t>: TLM Community Hospital, Shahdara, Delhi.</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Sample Size </a:t>
            </a:r>
            <a:r>
              <a:rPr lang="en-US" dirty="0">
                <a:latin typeface="Times New Roman" panose="02020603050405020304" pitchFamily="18" charset="0"/>
                <a:cs typeface="Times New Roman" panose="02020603050405020304" pitchFamily="18" charset="0"/>
              </a:rPr>
              <a:t>: A total of </a:t>
            </a:r>
            <a:r>
              <a:rPr lang="en-US" b="1" dirty="0">
                <a:latin typeface="Times New Roman" panose="02020603050405020304" pitchFamily="18" charset="0"/>
                <a:cs typeface="Times New Roman" panose="02020603050405020304" pitchFamily="18" charset="0"/>
              </a:rPr>
              <a:t>43 </a:t>
            </a:r>
            <a:r>
              <a:rPr lang="en-US" dirty="0">
                <a:latin typeface="Times New Roman" panose="02020603050405020304" pitchFamily="18" charset="0"/>
                <a:cs typeface="Times New Roman" panose="02020603050405020304" pitchFamily="18" charset="0"/>
              </a:rPr>
              <a:t>leprosy patients were enrolled.</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INCLUSION CRITERIA: </a:t>
            </a:r>
            <a:r>
              <a:rPr lang="en-US" dirty="0">
                <a:latin typeface="Times New Roman" panose="02020603050405020304" pitchFamily="18" charset="0"/>
                <a:cs typeface="Times New Roman" panose="02020603050405020304" pitchFamily="18" charset="0"/>
              </a:rPr>
              <a:t>Leprosy patients aged 18 to 60 years, including</a:t>
            </a:r>
          </a:p>
          <a:p>
            <a:r>
              <a:rPr lang="en-US" dirty="0">
                <a:latin typeface="Times New Roman" panose="02020603050405020304" pitchFamily="18" charset="0"/>
                <a:cs typeface="Times New Roman" panose="02020603050405020304" pitchFamily="18" charset="0"/>
              </a:rPr>
              <a:t>those with New, Relapse, Defaulters, T1R and T2R cases.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EXCLUSION CRITERIA: </a:t>
            </a:r>
            <a:r>
              <a:rPr lang="en-US" dirty="0">
                <a:latin typeface="Times New Roman" panose="02020603050405020304" pitchFamily="18" charset="0"/>
                <a:cs typeface="Times New Roman" panose="02020603050405020304" pitchFamily="18" charset="0"/>
              </a:rPr>
              <a:t>Leprosy Patients with any co-morbidities (TB, HIV),</a:t>
            </a:r>
          </a:p>
          <a:p>
            <a:r>
              <a:rPr lang="en-US" dirty="0">
                <a:latin typeface="Times New Roman" panose="02020603050405020304" pitchFamily="18" charset="0"/>
                <a:cs typeface="Times New Roman" panose="02020603050405020304" pitchFamily="18" charset="0"/>
              </a:rPr>
              <a:t>pregnant females, or individuals with any other concurrent diseases were excluded.</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5CFE2A9-E86B-D7A0-9912-971ABF1C2959}"/>
              </a:ext>
            </a:extLst>
          </p:cNvPr>
          <p:cNvSpPr txBox="1"/>
          <p:nvPr/>
        </p:nvSpPr>
        <p:spPr>
          <a:xfrm>
            <a:off x="3040170" y="200039"/>
            <a:ext cx="3063659"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Methodology</a:t>
            </a:r>
            <a:endParaRPr lang="en-IN" sz="4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F285814-7603-C7C5-FA44-F1986CA7F0EA}"/>
              </a:ext>
            </a:extLst>
          </p:cNvPr>
          <p:cNvPicPr>
            <a:picLocks noChangeAspect="1"/>
          </p:cNvPicPr>
          <p:nvPr/>
        </p:nvPicPr>
        <p:blipFill>
          <a:blip r:embed="rId2"/>
          <a:stretch>
            <a:fillRect/>
          </a:stretch>
        </p:blipFill>
        <p:spPr>
          <a:xfrm>
            <a:off x="39329" y="102867"/>
            <a:ext cx="1250991" cy="902230"/>
          </a:xfrm>
          <a:prstGeom prst="rect">
            <a:avLst/>
          </a:prstGeom>
        </p:spPr>
      </p:pic>
      <p:pic>
        <p:nvPicPr>
          <p:cNvPr id="13" name="Picture 12" descr="The Leprosy Mission Trust India">
            <a:extLst>
              <a:ext uri="{FF2B5EF4-FFF2-40B4-BE49-F238E27FC236}">
                <a16:creationId xmlns:a16="http://schemas.microsoft.com/office/drawing/2014/main" id="{32FACC3B-552B-ACE3-7104-61AE3A7796CA}"/>
              </a:ext>
            </a:extLst>
          </p:cNvPr>
          <p:cNvPicPr>
            <a:picLocks noChangeAspect="1"/>
          </p:cNvPicPr>
          <p:nvPr/>
        </p:nvPicPr>
        <p:blipFill>
          <a:blip r:embed="rId3"/>
          <a:stretch>
            <a:fillRect/>
          </a:stretch>
        </p:blipFill>
        <p:spPr>
          <a:xfrm>
            <a:off x="7195237" y="91440"/>
            <a:ext cx="1893770" cy="631257"/>
          </a:xfrm>
          <a:prstGeom prst="rect">
            <a:avLst/>
          </a:prstGeom>
        </p:spPr>
      </p:pic>
      <p:graphicFrame>
        <p:nvGraphicFramePr>
          <p:cNvPr id="5" name="Table 4">
            <a:extLst>
              <a:ext uri="{FF2B5EF4-FFF2-40B4-BE49-F238E27FC236}">
                <a16:creationId xmlns:a16="http://schemas.microsoft.com/office/drawing/2014/main" id="{0EC211ED-CA3A-1288-4018-1ABEC43C45E3}"/>
              </a:ext>
            </a:extLst>
          </p:cNvPr>
          <p:cNvGraphicFramePr>
            <a:graphicFrameLocks noGrp="1"/>
          </p:cNvGraphicFramePr>
          <p:nvPr>
            <p:extLst>
              <p:ext uri="{D42A27DB-BD31-4B8C-83A1-F6EECF244321}">
                <p14:modId xmlns:p14="http://schemas.microsoft.com/office/powerpoint/2010/main" val="3835962747"/>
              </p:ext>
            </p:extLst>
          </p:nvPr>
        </p:nvGraphicFramePr>
        <p:xfrm>
          <a:off x="1688707" y="2704144"/>
          <a:ext cx="5506530" cy="2089785"/>
        </p:xfrm>
        <a:graphic>
          <a:graphicData uri="http://schemas.openxmlformats.org/drawingml/2006/table">
            <a:tbl>
              <a:tblPr firstRow="1" bandRow="1">
                <a:tableStyleId>{5940675A-B579-460E-94D1-54222C63F5DA}</a:tableStyleId>
              </a:tblPr>
              <a:tblGrid>
                <a:gridCol w="2753265">
                  <a:extLst>
                    <a:ext uri="{9D8B030D-6E8A-4147-A177-3AD203B41FA5}">
                      <a16:colId xmlns:a16="http://schemas.microsoft.com/office/drawing/2014/main" val="1319151059"/>
                    </a:ext>
                  </a:extLst>
                </a:gridCol>
                <a:gridCol w="2753265">
                  <a:extLst>
                    <a:ext uri="{9D8B030D-6E8A-4147-A177-3AD203B41FA5}">
                      <a16:colId xmlns:a16="http://schemas.microsoft.com/office/drawing/2014/main" val="2380520924"/>
                    </a:ext>
                  </a:extLst>
                </a:gridCol>
              </a:tblGrid>
              <a:tr h="318794">
                <a:tc gridSpan="2">
                  <a:txBody>
                    <a:bodyPr/>
                    <a:lstStyle/>
                    <a:p>
                      <a:pPr algn="ctr">
                        <a:lnSpc>
                          <a:spcPct val="150000"/>
                        </a:lnSpc>
                      </a:pPr>
                      <a:r>
                        <a:rPr lang="en-IN" sz="1600" b="1" dirty="0">
                          <a:latin typeface="Times New Roman" panose="02020603050405020304" pitchFamily="18" charset="0"/>
                          <a:cs typeface="Times New Roman" panose="02020603050405020304" pitchFamily="18" charset="0"/>
                        </a:rPr>
                        <a:t>Study Population / Sample Size (n=43)</a:t>
                      </a:r>
                      <a:endParaRPr lang="en-IN" sz="16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3094692197"/>
                  </a:ext>
                </a:extLst>
              </a:tr>
              <a:tr h="285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Type 1 Reaction </a:t>
                      </a:r>
                    </a:p>
                  </a:txBody>
                  <a:tcPr/>
                </a:tc>
                <a:tc>
                  <a:txBody>
                    <a:bodyPr/>
                    <a:lstStyle/>
                    <a:p>
                      <a:pPr algn="ctr"/>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6526716"/>
                  </a:ext>
                </a:extLst>
              </a:tr>
              <a:tr h="285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Type 2 Reaction </a:t>
                      </a:r>
                    </a:p>
                  </a:txBody>
                  <a:tcPr/>
                </a:tc>
                <a:tc>
                  <a:txBody>
                    <a:bodyPr/>
                    <a:lstStyle/>
                    <a:p>
                      <a:pPr algn="ctr"/>
                      <a:r>
                        <a:rPr lang="en-US" sz="1600" dirty="0">
                          <a:latin typeface="Times New Roman" panose="02020603050405020304" pitchFamily="18" charset="0"/>
                          <a:cs typeface="Times New Roman" panose="02020603050405020304" pitchFamily="18" charset="0"/>
                        </a:rPr>
                        <a:t>11</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5729918"/>
                  </a:ext>
                </a:extLst>
              </a:tr>
              <a:tr h="285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Relapse    </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4078906"/>
                  </a:ext>
                </a:extLst>
              </a:tr>
              <a:tr h="285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Defaulter </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1833362"/>
                  </a:ext>
                </a:extLst>
              </a:tr>
              <a:tr h="285984">
                <a:tc>
                  <a:txBody>
                    <a:bodyPr/>
                    <a:lstStyle/>
                    <a:p>
                      <a:pPr algn="ctr"/>
                      <a:r>
                        <a:rPr lang="en-US" sz="1600" dirty="0">
                          <a:latin typeface="Times New Roman" panose="02020603050405020304" pitchFamily="18" charset="0"/>
                          <a:cs typeface="Times New Roman" panose="02020603050405020304" pitchFamily="18" charset="0"/>
                        </a:rPr>
                        <a:t>New</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15</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2273891"/>
                  </a:ext>
                </a:extLst>
              </a:tr>
            </a:tbl>
          </a:graphicData>
        </a:graphic>
      </p:graphicFrame>
    </p:spTree>
    <p:extLst>
      <p:ext uri="{BB962C8B-B14F-4D97-AF65-F5344CB8AC3E}">
        <p14:creationId xmlns:p14="http://schemas.microsoft.com/office/powerpoint/2010/main" val="1833551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66A61554-4EE5-3126-D184-4844CA3A785D}"/>
              </a:ext>
            </a:extLst>
          </p:cNvPr>
          <p:cNvGrpSpPr/>
          <p:nvPr/>
        </p:nvGrpSpPr>
        <p:grpSpPr>
          <a:xfrm>
            <a:off x="265905" y="190544"/>
            <a:ext cx="8601565" cy="6499135"/>
            <a:chOff x="314204" y="190544"/>
            <a:chExt cx="8601565" cy="6499135"/>
          </a:xfrm>
        </p:grpSpPr>
        <p:sp>
          <p:nvSpPr>
            <p:cNvPr id="3" name="Flowchart: Alternate Process 2">
              <a:extLst>
                <a:ext uri="{FF2B5EF4-FFF2-40B4-BE49-F238E27FC236}">
                  <a16:creationId xmlns:a16="http://schemas.microsoft.com/office/drawing/2014/main" id="{51938F0C-5C05-F641-1674-820DB3433C01}"/>
                </a:ext>
              </a:extLst>
            </p:cNvPr>
            <p:cNvSpPr/>
            <p:nvPr/>
          </p:nvSpPr>
          <p:spPr>
            <a:xfrm>
              <a:off x="2402110" y="190544"/>
              <a:ext cx="3976777" cy="535033"/>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Clinically Diagnosed Leprosy Cases (n=43)</a:t>
              </a:r>
            </a:p>
          </p:txBody>
        </p:sp>
        <p:sp>
          <p:nvSpPr>
            <p:cNvPr id="4" name="Flowchart: Alternate Process 3">
              <a:extLst>
                <a:ext uri="{FF2B5EF4-FFF2-40B4-BE49-F238E27FC236}">
                  <a16:creationId xmlns:a16="http://schemas.microsoft.com/office/drawing/2014/main" id="{00105989-8726-94B0-DCBB-8B3F79EEAB38}"/>
                </a:ext>
              </a:extLst>
            </p:cNvPr>
            <p:cNvSpPr/>
            <p:nvPr/>
          </p:nvSpPr>
          <p:spPr>
            <a:xfrm>
              <a:off x="3151561" y="1120231"/>
              <a:ext cx="2345570" cy="428016"/>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Reactional Cases (n=21)</a:t>
              </a:r>
            </a:p>
          </p:txBody>
        </p:sp>
        <p:sp>
          <p:nvSpPr>
            <p:cNvPr id="5" name="Flowchart: Alternate Process 4">
              <a:extLst>
                <a:ext uri="{FF2B5EF4-FFF2-40B4-BE49-F238E27FC236}">
                  <a16:creationId xmlns:a16="http://schemas.microsoft.com/office/drawing/2014/main" id="{656B03A7-D350-4B2C-DACC-26F4A3CCDFEF}"/>
                </a:ext>
              </a:extLst>
            </p:cNvPr>
            <p:cNvSpPr/>
            <p:nvPr/>
          </p:nvSpPr>
          <p:spPr>
            <a:xfrm>
              <a:off x="314204" y="1129873"/>
              <a:ext cx="2507497" cy="420383"/>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Non-Reactional Cases (n=15)</a:t>
              </a:r>
            </a:p>
          </p:txBody>
        </p:sp>
        <p:sp>
          <p:nvSpPr>
            <p:cNvPr id="6" name="Flowchart: Alternate Process 5">
              <a:extLst>
                <a:ext uri="{FF2B5EF4-FFF2-40B4-BE49-F238E27FC236}">
                  <a16:creationId xmlns:a16="http://schemas.microsoft.com/office/drawing/2014/main" id="{D1C4F07D-7347-C278-449D-310391C5CA73}"/>
                </a:ext>
              </a:extLst>
            </p:cNvPr>
            <p:cNvSpPr/>
            <p:nvPr/>
          </p:nvSpPr>
          <p:spPr>
            <a:xfrm>
              <a:off x="579734" y="1893087"/>
              <a:ext cx="1706392" cy="428017"/>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New (n=15)</a:t>
              </a:r>
            </a:p>
          </p:txBody>
        </p:sp>
        <p:sp>
          <p:nvSpPr>
            <p:cNvPr id="7" name="Flowchart: Alternate Process 6">
              <a:extLst>
                <a:ext uri="{FF2B5EF4-FFF2-40B4-BE49-F238E27FC236}">
                  <a16:creationId xmlns:a16="http://schemas.microsoft.com/office/drawing/2014/main" id="{F18ACF0E-41A7-EFD0-F8C9-C13E76398538}"/>
                </a:ext>
              </a:extLst>
            </p:cNvPr>
            <p:cNvSpPr/>
            <p:nvPr/>
          </p:nvSpPr>
          <p:spPr>
            <a:xfrm>
              <a:off x="2445845" y="2739764"/>
              <a:ext cx="4509745" cy="332025"/>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altLang="en-US" sz="1600" dirty="0">
                  <a:solidFill>
                    <a:schemeClr val="tx1"/>
                  </a:solidFill>
                  <a:latin typeface="Times New Roman" panose="02020603050405020304" pitchFamily="18" charset="0"/>
                  <a:cs typeface="Times New Roman" panose="02020603050405020304" pitchFamily="18" charset="0"/>
                </a:rPr>
                <a:t>Clinical &amp; Demographic Data Collection (SSS)</a:t>
              </a:r>
            </a:p>
          </p:txBody>
        </p:sp>
        <p:sp>
          <p:nvSpPr>
            <p:cNvPr id="8" name="Flowchart: Alternate Process 7">
              <a:extLst>
                <a:ext uri="{FF2B5EF4-FFF2-40B4-BE49-F238E27FC236}">
                  <a16:creationId xmlns:a16="http://schemas.microsoft.com/office/drawing/2014/main" id="{32093B6A-91A0-2D0B-0268-2984240CF8CE}"/>
                </a:ext>
              </a:extLst>
            </p:cNvPr>
            <p:cNvSpPr/>
            <p:nvPr/>
          </p:nvSpPr>
          <p:spPr>
            <a:xfrm>
              <a:off x="1358317" y="3350528"/>
              <a:ext cx="6832121" cy="332025"/>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altLang="en-US" sz="1600" dirty="0">
                  <a:solidFill>
                    <a:schemeClr val="tx1"/>
                  </a:solidFill>
                  <a:latin typeface="Times New Roman" panose="02020603050405020304" pitchFamily="18" charset="0"/>
                  <a:cs typeface="Times New Roman" panose="02020603050405020304" pitchFamily="18" charset="0"/>
                </a:rPr>
                <a:t>RNA Isolation (By Rneasy Mini Kit - Cat. no. : 74104) )</a:t>
              </a:r>
            </a:p>
          </p:txBody>
        </p:sp>
        <p:sp>
          <p:nvSpPr>
            <p:cNvPr id="10" name="Flowchart: Alternate Process 9">
              <a:extLst>
                <a:ext uri="{FF2B5EF4-FFF2-40B4-BE49-F238E27FC236}">
                  <a16:creationId xmlns:a16="http://schemas.microsoft.com/office/drawing/2014/main" id="{2606D437-3C8D-47B8-9B40-3CD941A26525}"/>
                </a:ext>
              </a:extLst>
            </p:cNvPr>
            <p:cNvSpPr/>
            <p:nvPr/>
          </p:nvSpPr>
          <p:spPr>
            <a:xfrm>
              <a:off x="2536164" y="6203706"/>
              <a:ext cx="4260100" cy="485973"/>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altLang="en-US" sz="1600" dirty="0">
                <a:solidFill>
                  <a:schemeClr val="tx1"/>
                </a:solidFill>
                <a:latin typeface="Times New Roman" panose="02020603050405020304" pitchFamily="18" charset="0"/>
                <a:cs typeface="Times New Roman" panose="02020603050405020304" pitchFamily="18" charset="0"/>
              </a:endParaRPr>
            </a:p>
            <a:p>
              <a:pPr algn="ctr"/>
              <a:r>
                <a:rPr lang="en-US" altLang="en-US" sz="1600" dirty="0">
                  <a:solidFill>
                    <a:schemeClr val="tx1"/>
                  </a:solidFill>
                  <a:latin typeface="Times New Roman" panose="02020603050405020304" pitchFamily="18" charset="0"/>
                  <a:cs typeface="Times New Roman" panose="02020603050405020304" pitchFamily="18" charset="0"/>
                </a:rPr>
                <a:t>Descriptive Statistical Analysis (Mean ± SD)</a:t>
              </a:r>
            </a:p>
            <a:p>
              <a:pPr algn="ct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12" name="Down Arrow 42">
              <a:extLst>
                <a:ext uri="{FF2B5EF4-FFF2-40B4-BE49-F238E27FC236}">
                  <a16:creationId xmlns:a16="http://schemas.microsoft.com/office/drawing/2014/main" id="{53EA5076-5D77-09CC-C2C3-3C7055E042A0}"/>
                </a:ext>
              </a:extLst>
            </p:cNvPr>
            <p:cNvSpPr/>
            <p:nvPr/>
          </p:nvSpPr>
          <p:spPr>
            <a:xfrm>
              <a:off x="4627055" y="3079432"/>
              <a:ext cx="147323" cy="268557"/>
            </a:xfrm>
            <a:prstGeom prst="downArrow">
              <a:avLst>
                <a:gd name="adj1" fmla="val 50000"/>
                <a:gd name="adj2" fmla="val 50000"/>
              </a:avLst>
            </a:prstGeom>
            <a:solidFill>
              <a:schemeClr val="accent3">
                <a:lumMod val="60000"/>
                <a:lumOff val="4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sz="1600" dirty="0">
                <a:solidFill>
                  <a:schemeClr val="tx1"/>
                </a:solidFill>
              </a:endParaRPr>
            </a:p>
          </p:txBody>
        </p:sp>
        <p:sp>
          <p:nvSpPr>
            <p:cNvPr id="14" name="Right Brace 13">
              <a:extLst>
                <a:ext uri="{FF2B5EF4-FFF2-40B4-BE49-F238E27FC236}">
                  <a16:creationId xmlns:a16="http://schemas.microsoft.com/office/drawing/2014/main" id="{1B02C4D4-A9E6-5466-F60D-D2AD50776A10}"/>
                </a:ext>
              </a:extLst>
            </p:cNvPr>
            <p:cNvSpPr/>
            <p:nvPr/>
          </p:nvSpPr>
          <p:spPr>
            <a:xfrm rot="16200000">
              <a:off x="3982365" y="692685"/>
              <a:ext cx="395217" cy="2056824"/>
            </a:xfrm>
            <a:prstGeom prst="rightBrace">
              <a:avLst>
                <a:gd name="adj1" fmla="val 41073"/>
                <a:gd name="adj2" fmla="val 49492"/>
              </a:avLst>
            </a:prstGeom>
            <a:noFill/>
            <a:ln w="57150" cmpd="sng">
              <a:solidFill>
                <a:schemeClr val="accent3">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15" name="Right Brace 14">
              <a:extLst>
                <a:ext uri="{FF2B5EF4-FFF2-40B4-BE49-F238E27FC236}">
                  <a16:creationId xmlns:a16="http://schemas.microsoft.com/office/drawing/2014/main" id="{40F4A314-D676-8AFE-6FFE-F916472A99D6}"/>
                </a:ext>
              </a:extLst>
            </p:cNvPr>
            <p:cNvSpPr/>
            <p:nvPr/>
          </p:nvSpPr>
          <p:spPr>
            <a:xfrm rot="16200000">
              <a:off x="4058296" y="-1660654"/>
              <a:ext cx="395217" cy="5099434"/>
            </a:xfrm>
            <a:prstGeom prst="rightBrace">
              <a:avLst/>
            </a:prstGeom>
            <a:noFill/>
            <a:ln w="57150" cmpd="sng">
              <a:solidFill>
                <a:schemeClr val="accent3">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p>
          </p:txBody>
        </p:sp>
        <p:sp>
          <p:nvSpPr>
            <p:cNvPr id="21" name="Arrow: Down 20">
              <a:extLst>
                <a:ext uri="{FF2B5EF4-FFF2-40B4-BE49-F238E27FC236}">
                  <a16:creationId xmlns:a16="http://schemas.microsoft.com/office/drawing/2014/main" id="{23C300FE-C567-4F9D-7024-D793F1A09D43}"/>
                </a:ext>
              </a:extLst>
            </p:cNvPr>
            <p:cNvSpPr/>
            <p:nvPr/>
          </p:nvSpPr>
          <p:spPr>
            <a:xfrm>
              <a:off x="4245038" y="904510"/>
              <a:ext cx="45719" cy="228864"/>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sz="1600"/>
            </a:p>
          </p:txBody>
        </p:sp>
        <p:sp>
          <p:nvSpPr>
            <p:cNvPr id="22" name="Right Brace 21">
              <a:extLst>
                <a:ext uri="{FF2B5EF4-FFF2-40B4-BE49-F238E27FC236}">
                  <a16:creationId xmlns:a16="http://schemas.microsoft.com/office/drawing/2014/main" id="{5B41BB89-2DAE-6DF4-E651-A7419EB70F4A}"/>
                </a:ext>
              </a:extLst>
            </p:cNvPr>
            <p:cNvSpPr/>
            <p:nvPr/>
          </p:nvSpPr>
          <p:spPr>
            <a:xfrm rot="16200000">
              <a:off x="6608014" y="212942"/>
              <a:ext cx="395217" cy="2139228"/>
            </a:xfrm>
            <a:prstGeom prst="rightBrace">
              <a:avLst>
                <a:gd name="adj1" fmla="val 41073"/>
                <a:gd name="adj2" fmla="val 49492"/>
              </a:avLst>
            </a:prstGeom>
            <a:noFill/>
            <a:ln w="57150" cmpd="sng">
              <a:solidFill>
                <a:schemeClr val="accent3">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p>
          </p:txBody>
        </p:sp>
        <p:sp>
          <p:nvSpPr>
            <p:cNvPr id="24" name="Flowchart: Alternate Process 23">
              <a:extLst>
                <a:ext uri="{FF2B5EF4-FFF2-40B4-BE49-F238E27FC236}">
                  <a16:creationId xmlns:a16="http://schemas.microsoft.com/office/drawing/2014/main" id="{15B6B132-5B77-8EF5-2CB5-55D7465E459E}"/>
                </a:ext>
              </a:extLst>
            </p:cNvPr>
            <p:cNvSpPr/>
            <p:nvPr/>
          </p:nvSpPr>
          <p:spPr>
            <a:xfrm>
              <a:off x="2445844" y="1919409"/>
              <a:ext cx="1113300" cy="428017"/>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T1R (n=10)</a:t>
              </a:r>
            </a:p>
          </p:txBody>
        </p:sp>
        <p:sp>
          <p:nvSpPr>
            <p:cNvPr id="25" name="Flowchart: Alternate Process 24">
              <a:extLst>
                <a:ext uri="{FF2B5EF4-FFF2-40B4-BE49-F238E27FC236}">
                  <a16:creationId xmlns:a16="http://schemas.microsoft.com/office/drawing/2014/main" id="{BFBC3C83-AF2D-6A3D-FF29-DAAE8B4545BB}"/>
                </a:ext>
              </a:extLst>
            </p:cNvPr>
            <p:cNvSpPr/>
            <p:nvPr/>
          </p:nvSpPr>
          <p:spPr>
            <a:xfrm>
              <a:off x="4341194" y="1905882"/>
              <a:ext cx="1252093" cy="428017"/>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T2R (n=11)</a:t>
              </a:r>
            </a:p>
          </p:txBody>
        </p:sp>
        <p:sp>
          <p:nvSpPr>
            <p:cNvPr id="26" name="Flowchart: Alternate Process 25">
              <a:extLst>
                <a:ext uri="{FF2B5EF4-FFF2-40B4-BE49-F238E27FC236}">
                  <a16:creationId xmlns:a16="http://schemas.microsoft.com/office/drawing/2014/main" id="{E26B1230-773F-9880-E75C-9FC6B116C1F7}"/>
                </a:ext>
              </a:extLst>
            </p:cNvPr>
            <p:cNvSpPr/>
            <p:nvPr/>
          </p:nvSpPr>
          <p:spPr>
            <a:xfrm>
              <a:off x="5545515" y="1499383"/>
              <a:ext cx="1517990" cy="428017"/>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Defaulter (n=4)</a:t>
              </a:r>
            </a:p>
          </p:txBody>
        </p:sp>
        <p:sp>
          <p:nvSpPr>
            <p:cNvPr id="27" name="Flowchart: Alternate Process 26">
              <a:extLst>
                <a:ext uri="{FF2B5EF4-FFF2-40B4-BE49-F238E27FC236}">
                  <a16:creationId xmlns:a16="http://schemas.microsoft.com/office/drawing/2014/main" id="{2D0EFEFE-0F7F-A0C1-3753-40460FC61079}"/>
                </a:ext>
              </a:extLst>
            </p:cNvPr>
            <p:cNvSpPr/>
            <p:nvPr/>
          </p:nvSpPr>
          <p:spPr>
            <a:xfrm>
              <a:off x="7382089" y="1495499"/>
              <a:ext cx="1517990" cy="428017"/>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Relapse (n=3)</a:t>
              </a:r>
            </a:p>
          </p:txBody>
        </p:sp>
        <p:sp>
          <p:nvSpPr>
            <p:cNvPr id="28" name="Right Brace 27">
              <a:extLst>
                <a:ext uri="{FF2B5EF4-FFF2-40B4-BE49-F238E27FC236}">
                  <a16:creationId xmlns:a16="http://schemas.microsoft.com/office/drawing/2014/main" id="{73AB9F77-484D-0DD8-0B99-52A89B5C9EE2}"/>
                </a:ext>
              </a:extLst>
            </p:cNvPr>
            <p:cNvSpPr/>
            <p:nvPr/>
          </p:nvSpPr>
          <p:spPr>
            <a:xfrm rot="5400000">
              <a:off x="4468606" y="-736354"/>
              <a:ext cx="395217" cy="6516049"/>
            </a:xfrm>
            <a:prstGeom prst="rightBrace">
              <a:avLst>
                <a:gd name="adj1" fmla="val 41073"/>
                <a:gd name="adj2" fmla="val 49492"/>
              </a:avLst>
            </a:prstGeom>
            <a:noFill/>
            <a:ln w="57150" cmpd="sng">
              <a:solidFill>
                <a:schemeClr val="accent3">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p>
          </p:txBody>
        </p:sp>
        <p:sp>
          <p:nvSpPr>
            <p:cNvPr id="30" name="Down Arrow 42">
              <a:extLst>
                <a:ext uri="{FF2B5EF4-FFF2-40B4-BE49-F238E27FC236}">
                  <a16:creationId xmlns:a16="http://schemas.microsoft.com/office/drawing/2014/main" id="{3DA2061A-0036-7E0B-23BA-548FD37C3FDF}"/>
                </a:ext>
              </a:extLst>
            </p:cNvPr>
            <p:cNvSpPr/>
            <p:nvPr/>
          </p:nvSpPr>
          <p:spPr>
            <a:xfrm>
              <a:off x="4605152" y="3682553"/>
              <a:ext cx="147323" cy="268557"/>
            </a:xfrm>
            <a:prstGeom prst="downArrow">
              <a:avLst>
                <a:gd name="adj1" fmla="val 50000"/>
                <a:gd name="adj2" fmla="val 50000"/>
              </a:avLst>
            </a:prstGeom>
            <a:solidFill>
              <a:schemeClr val="accent3">
                <a:lumMod val="60000"/>
                <a:lumOff val="4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sz="1600" dirty="0">
                <a:solidFill>
                  <a:schemeClr val="tx1"/>
                </a:solidFill>
              </a:endParaRPr>
            </a:p>
          </p:txBody>
        </p:sp>
        <p:sp>
          <p:nvSpPr>
            <p:cNvPr id="31" name="Flowchart: Alternate Process 30">
              <a:extLst>
                <a:ext uri="{FF2B5EF4-FFF2-40B4-BE49-F238E27FC236}">
                  <a16:creationId xmlns:a16="http://schemas.microsoft.com/office/drawing/2014/main" id="{DE4F892D-4DF6-A77B-0265-7FB3D33A4FCF}"/>
                </a:ext>
              </a:extLst>
            </p:cNvPr>
            <p:cNvSpPr/>
            <p:nvPr/>
          </p:nvSpPr>
          <p:spPr>
            <a:xfrm>
              <a:off x="517043" y="3971879"/>
              <a:ext cx="8398726" cy="553311"/>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altLang="en-US" sz="1600" dirty="0">
                  <a:solidFill>
                    <a:schemeClr val="tx1"/>
                  </a:solidFill>
                  <a:latin typeface="Times New Roman" panose="02020603050405020304" pitchFamily="18" charset="0"/>
                  <a:cs typeface="Times New Roman" panose="02020603050405020304" pitchFamily="18" charset="0"/>
                </a:rPr>
                <a:t>RNA Quantification by Invitrogen Thermofisher Scientific kit (Cat. No.: Q32852) using Qubit Fluorometer</a:t>
              </a:r>
            </a:p>
          </p:txBody>
        </p:sp>
        <p:sp>
          <p:nvSpPr>
            <p:cNvPr id="32" name="Flowchart: Alternate Process 31">
              <a:extLst>
                <a:ext uri="{FF2B5EF4-FFF2-40B4-BE49-F238E27FC236}">
                  <a16:creationId xmlns:a16="http://schemas.microsoft.com/office/drawing/2014/main" id="{73201115-2393-5259-93A8-989070199608}"/>
                </a:ext>
              </a:extLst>
            </p:cNvPr>
            <p:cNvSpPr/>
            <p:nvPr/>
          </p:nvSpPr>
          <p:spPr>
            <a:xfrm>
              <a:off x="501353" y="4795621"/>
              <a:ext cx="8398726" cy="525775"/>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altLang="en-US" sz="1600" dirty="0">
                  <a:solidFill>
                    <a:schemeClr val="tx1"/>
                  </a:solidFill>
                  <a:latin typeface="Times New Roman" panose="02020603050405020304" pitchFamily="18" charset="0"/>
                  <a:cs typeface="Times New Roman" panose="02020603050405020304" pitchFamily="18" charset="0"/>
                </a:rPr>
                <a:t>cDNA Preparation by </a:t>
              </a:r>
              <a:r>
                <a:rPr lang="en-IN" sz="1600" dirty="0">
                  <a:solidFill>
                    <a:schemeClr val="tx1"/>
                  </a:solidFill>
                  <a:latin typeface="Times New Roman" panose="02020603050405020304" pitchFamily="18" charset="0"/>
                  <a:cs typeface="Times New Roman" panose="02020603050405020304" pitchFamily="18" charset="0"/>
                </a:rPr>
                <a:t>Applied Biosystems™ High-Capacity cDNA Reverse Transcription Kit (Cat. No. 4368814)</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33" name="Down Arrow 42">
              <a:extLst>
                <a:ext uri="{FF2B5EF4-FFF2-40B4-BE49-F238E27FC236}">
                  <a16:creationId xmlns:a16="http://schemas.microsoft.com/office/drawing/2014/main" id="{153BD1CA-9232-B2C4-071C-E3CE269D5472}"/>
                </a:ext>
              </a:extLst>
            </p:cNvPr>
            <p:cNvSpPr/>
            <p:nvPr/>
          </p:nvSpPr>
          <p:spPr>
            <a:xfrm>
              <a:off x="4604472" y="4526127"/>
              <a:ext cx="147323" cy="268557"/>
            </a:xfrm>
            <a:prstGeom prst="downArrow">
              <a:avLst>
                <a:gd name="adj1" fmla="val 50000"/>
                <a:gd name="adj2" fmla="val 50000"/>
              </a:avLst>
            </a:prstGeom>
            <a:solidFill>
              <a:schemeClr val="accent3">
                <a:lumMod val="60000"/>
                <a:lumOff val="4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sz="1600" dirty="0">
                <a:solidFill>
                  <a:schemeClr val="tx1"/>
                </a:solidFill>
              </a:endParaRPr>
            </a:p>
          </p:txBody>
        </p:sp>
        <p:sp>
          <p:nvSpPr>
            <p:cNvPr id="34" name="Down Arrow 42">
              <a:extLst>
                <a:ext uri="{FF2B5EF4-FFF2-40B4-BE49-F238E27FC236}">
                  <a16:creationId xmlns:a16="http://schemas.microsoft.com/office/drawing/2014/main" id="{243FA0BC-1DD1-D0DC-ECF0-80377613D261}"/>
                </a:ext>
              </a:extLst>
            </p:cNvPr>
            <p:cNvSpPr/>
            <p:nvPr/>
          </p:nvSpPr>
          <p:spPr>
            <a:xfrm>
              <a:off x="4609121" y="5310150"/>
              <a:ext cx="147323" cy="268557"/>
            </a:xfrm>
            <a:prstGeom prst="downArrow">
              <a:avLst>
                <a:gd name="adj1" fmla="val 50000"/>
                <a:gd name="adj2" fmla="val 50000"/>
              </a:avLst>
            </a:prstGeom>
            <a:solidFill>
              <a:schemeClr val="accent3">
                <a:lumMod val="60000"/>
                <a:lumOff val="4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sz="1600" dirty="0">
                <a:solidFill>
                  <a:schemeClr val="tx1"/>
                </a:solidFill>
              </a:endParaRPr>
            </a:p>
          </p:txBody>
        </p:sp>
        <p:sp>
          <p:nvSpPr>
            <p:cNvPr id="35" name="Flowchart: Alternate Process 34">
              <a:extLst>
                <a:ext uri="{FF2B5EF4-FFF2-40B4-BE49-F238E27FC236}">
                  <a16:creationId xmlns:a16="http://schemas.microsoft.com/office/drawing/2014/main" id="{898CE3D5-B3DF-2CC6-50E4-BA84F1CE13DE}"/>
                </a:ext>
              </a:extLst>
            </p:cNvPr>
            <p:cNvSpPr/>
            <p:nvPr/>
          </p:nvSpPr>
          <p:spPr>
            <a:xfrm>
              <a:off x="876977" y="5578707"/>
              <a:ext cx="7357537" cy="401214"/>
            </a:xfrm>
            <a:prstGeom prst="flowChartAlternateProcess">
              <a:avLst/>
            </a:prstGeom>
            <a:solidFill>
              <a:schemeClr val="accent3">
                <a:lumMod val="20000"/>
                <a:lumOff val="8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r>
                <a:rPr lang="en-US" altLang="en-US" sz="1600" dirty="0">
                  <a:solidFill>
                    <a:schemeClr val="tx1"/>
                  </a:solidFill>
                  <a:latin typeface="Times New Roman" panose="02020603050405020304" pitchFamily="18" charset="0"/>
                  <a:cs typeface="Times New Roman" panose="02020603050405020304" pitchFamily="18" charset="0"/>
                </a:rPr>
                <a:t>Molecular Viability Assay (MVA) by targeting 16SrRNA, exsA, hsp18 genes </a:t>
              </a:r>
            </a:p>
          </p:txBody>
        </p:sp>
        <p:sp>
          <p:nvSpPr>
            <p:cNvPr id="36" name="Down Arrow 42">
              <a:extLst>
                <a:ext uri="{FF2B5EF4-FFF2-40B4-BE49-F238E27FC236}">
                  <a16:creationId xmlns:a16="http://schemas.microsoft.com/office/drawing/2014/main" id="{E45647B7-F3B2-22F6-3024-E00EC0DB8976}"/>
                </a:ext>
              </a:extLst>
            </p:cNvPr>
            <p:cNvSpPr/>
            <p:nvPr/>
          </p:nvSpPr>
          <p:spPr>
            <a:xfrm>
              <a:off x="4605152" y="5962078"/>
              <a:ext cx="147323" cy="268557"/>
            </a:xfrm>
            <a:prstGeom prst="downArrow">
              <a:avLst>
                <a:gd name="adj1" fmla="val 50000"/>
                <a:gd name="adj2" fmla="val 50000"/>
              </a:avLst>
            </a:prstGeom>
            <a:solidFill>
              <a:schemeClr val="accent3">
                <a:lumMod val="60000"/>
                <a:lumOff val="40000"/>
              </a:schemeClr>
            </a:solidFill>
            <a:ln w="19050">
              <a:noFill/>
            </a:ln>
          </p:spPr>
          <p:style>
            <a:lnRef idx="1">
              <a:schemeClr val="accent1"/>
            </a:lnRef>
            <a:fillRef idx="3">
              <a:schemeClr val="accent1"/>
            </a:fillRef>
            <a:effectRef idx="2">
              <a:schemeClr val="accent1"/>
            </a:effectRef>
            <a:fontRef idx="minor">
              <a:schemeClr val="lt1"/>
            </a:fontRef>
          </p:style>
          <p:txBody>
            <a:bodyPr lIns="48000" tIns="48000" rIns="48000" bIns="48000" rtlCol="0" anchor="ctr"/>
            <a:lstStyle/>
            <a:p>
              <a:pPr algn="ctr"/>
              <a:endParaRPr lang="en-US" sz="1600" dirty="0">
                <a:solidFill>
                  <a:schemeClr val="tx1"/>
                </a:solidFill>
              </a:endParaRPr>
            </a:p>
          </p:txBody>
        </p:sp>
      </p:grpSp>
      <p:sp>
        <p:nvSpPr>
          <p:cNvPr id="38" name="TextBox 37">
            <a:extLst>
              <a:ext uri="{FF2B5EF4-FFF2-40B4-BE49-F238E27FC236}">
                <a16:creationId xmlns:a16="http://schemas.microsoft.com/office/drawing/2014/main" id="{76ACA914-99EC-B8AB-4063-FB2510819A1A}"/>
              </a:ext>
            </a:extLst>
          </p:cNvPr>
          <p:cNvSpPr txBox="1"/>
          <p:nvPr/>
        </p:nvSpPr>
        <p:spPr>
          <a:xfrm>
            <a:off x="146649" y="7094"/>
            <a:ext cx="1845314"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WORK FLOW</a:t>
            </a:r>
          </a:p>
        </p:txBody>
      </p:sp>
      <p:sp>
        <p:nvSpPr>
          <p:cNvPr id="9" name="Arrow: Down 8">
            <a:extLst>
              <a:ext uri="{FF2B5EF4-FFF2-40B4-BE49-F238E27FC236}">
                <a16:creationId xmlns:a16="http://schemas.microsoft.com/office/drawing/2014/main" id="{00496EC1-8376-2D22-0E68-6563FCDB4FB1}"/>
              </a:ext>
            </a:extLst>
          </p:cNvPr>
          <p:cNvSpPr/>
          <p:nvPr/>
        </p:nvSpPr>
        <p:spPr>
          <a:xfrm>
            <a:off x="1384631" y="1627019"/>
            <a:ext cx="45719" cy="228864"/>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sz="1600"/>
          </a:p>
        </p:txBody>
      </p:sp>
    </p:spTree>
    <p:extLst>
      <p:ext uri="{BB962C8B-B14F-4D97-AF65-F5344CB8AC3E}">
        <p14:creationId xmlns:p14="http://schemas.microsoft.com/office/powerpoint/2010/main" val="3202572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5A1B2-8375-55DD-1B43-AB97A093B16C}"/>
              </a:ext>
            </a:extLst>
          </p:cNvPr>
          <p:cNvPicPr>
            <a:picLocks noChangeAspect="1"/>
          </p:cNvPicPr>
          <p:nvPr/>
        </p:nvPicPr>
        <p:blipFill>
          <a:blip r:embed="rId2"/>
          <a:stretch>
            <a:fillRect/>
          </a:stretch>
        </p:blipFill>
        <p:spPr>
          <a:xfrm>
            <a:off x="33632" y="0"/>
            <a:ext cx="1281983" cy="863978"/>
          </a:xfrm>
          <a:prstGeom prst="rect">
            <a:avLst/>
          </a:prstGeom>
        </p:spPr>
      </p:pic>
      <p:pic>
        <p:nvPicPr>
          <p:cNvPr id="5" name="Picture 4" descr="The Leprosy Mission Trust India">
            <a:extLst>
              <a:ext uri="{FF2B5EF4-FFF2-40B4-BE49-F238E27FC236}">
                <a16:creationId xmlns:a16="http://schemas.microsoft.com/office/drawing/2014/main" id="{ECBBCE5C-C64C-9DCD-6B5B-F0DBC3E78822}"/>
              </a:ext>
            </a:extLst>
          </p:cNvPr>
          <p:cNvPicPr>
            <a:picLocks noChangeAspect="1"/>
          </p:cNvPicPr>
          <p:nvPr/>
        </p:nvPicPr>
        <p:blipFill>
          <a:blip r:embed="rId3"/>
          <a:stretch>
            <a:fillRect/>
          </a:stretch>
        </p:blipFill>
        <p:spPr>
          <a:xfrm>
            <a:off x="7195237" y="91440"/>
            <a:ext cx="1893770" cy="631257"/>
          </a:xfrm>
          <a:prstGeom prst="rect">
            <a:avLst/>
          </a:prstGeom>
        </p:spPr>
      </p:pic>
      <p:sp>
        <p:nvSpPr>
          <p:cNvPr id="9" name="TextBox 8">
            <a:extLst>
              <a:ext uri="{FF2B5EF4-FFF2-40B4-BE49-F238E27FC236}">
                <a16:creationId xmlns:a16="http://schemas.microsoft.com/office/drawing/2014/main" id="{3EF81AD1-D1BD-D6B2-7BCF-7832385DC1E6}"/>
              </a:ext>
            </a:extLst>
          </p:cNvPr>
          <p:cNvSpPr txBox="1"/>
          <p:nvPr/>
        </p:nvSpPr>
        <p:spPr>
          <a:xfrm>
            <a:off x="3718560" y="365760"/>
            <a:ext cx="1231427" cy="553998"/>
          </a:xfrm>
          <a:prstGeom prst="rect">
            <a:avLst/>
          </a:prstGeom>
          <a:noFill/>
        </p:spPr>
        <p:txBody>
          <a:bodyPr wrap="none" rtlCol="0">
            <a:spAutoFit/>
          </a:bodyPr>
          <a:lstStyle/>
          <a:p>
            <a:r>
              <a:rPr lang="en-US" sz="3000" b="1" dirty="0">
                <a:latin typeface="Times New Roman" panose="02020603050405020304" pitchFamily="18" charset="0"/>
                <a:cs typeface="Times New Roman" panose="02020603050405020304" pitchFamily="18" charset="0"/>
              </a:rPr>
              <a:t>Result</a:t>
            </a:r>
            <a:endParaRPr lang="en-IN" sz="30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7F0A3A3-5D27-0107-BBE5-CD9420F7FAC3}"/>
              </a:ext>
            </a:extLst>
          </p:cNvPr>
          <p:cNvSpPr txBox="1"/>
          <p:nvPr/>
        </p:nvSpPr>
        <p:spPr>
          <a:xfrm>
            <a:off x="489856" y="5827443"/>
            <a:ext cx="8033657" cy="878895"/>
          </a:xfrm>
          <a:prstGeom prst="rect">
            <a:avLst/>
          </a:prstGeom>
          <a:noFill/>
        </p:spPr>
        <p:txBody>
          <a:bodyPr wrap="square">
            <a:spAutoFit/>
          </a:bodyPr>
          <a:lstStyle/>
          <a:p>
            <a:pPr algn="just">
              <a:lnSpc>
                <a:spcPct val="150000"/>
              </a:lnSpc>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Table no :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Mean ± SD expression levels of </a:t>
            </a:r>
            <a:r>
              <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rPr>
              <a:t>16S rRNA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rPr>
              <a:t>esxA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rPr>
              <a:t>hsp18</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genes in different clinical groups of patients.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534BDD2-3C53-D876-FDC3-27B262A32513}"/>
              </a:ext>
            </a:extLst>
          </p:cNvPr>
          <p:cNvGraphicFramePr>
            <a:graphicFrameLocks noGrp="1"/>
          </p:cNvGraphicFramePr>
          <p:nvPr>
            <p:extLst>
              <p:ext uri="{D42A27DB-BD31-4B8C-83A1-F6EECF244321}">
                <p14:modId xmlns:p14="http://schemas.microsoft.com/office/powerpoint/2010/main" val="3370283448"/>
              </p:ext>
            </p:extLst>
          </p:nvPr>
        </p:nvGraphicFramePr>
        <p:xfrm>
          <a:off x="391886" y="1212981"/>
          <a:ext cx="8369559" cy="4704907"/>
        </p:xfrm>
        <a:graphic>
          <a:graphicData uri="http://schemas.openxmlformats.org/drawingml/2006/table">
            <a:tbl>
              <a:tblPr firstRow="1" firstCol="1" bandRow="1">
                <a:tableStyleId>{5940675A-B579-460E-94D1-54222C63F5DA}</a:tableStyleId>
              </a:tblPr>
              <a:tblGrid>
                <a:gridCol w="1628505">
                  <a:extLst>
                    <a:ext uri="{9D8B030D-6E8A-4147-A177-3AD203B41FA5}">
                      <a16:colId xmlns:a16="http://schemas.microsoft.com/office/drawing/2014/main" val="64919542"/>
                    </a:ext>
                  </a:extLst>
                </a:gridCol>
                <a:gridCol w="1531204">
                  <a:extLst>
                    <a:ext uri="{9D8B030D-6E8A-4147-A177-3AD203B41FA5}">
                      <a16:colId xmlns:a16="http://schemas.microsoft.com/office/drawing/2014/main" val="1775816401"/>
                    </a:ext>
                  </a:extLst>
                </a:gridCol>
                <a:gridCol w="1325508">
                  <a:extLst>
                    <a:ext uri="{9D8B030D-6E8A-4147-A177-3AD203B41FA5}">
                      <a16:colId xmlns:a16="http://schemas.microsoft.com/office/drawing/2014/main" val="2271416721"/>
                    </a:ext>
                  </a:extLst>
                </a:gridCol>
                <a:gridCol w="1124932">
                  <a:extLst>
                    <a:ext uri="{9D8B030D-6E8A-4147-A177-3AD203B41FA5}">
                      <a16:colId xmlns:a16="http://schemas.microsoft.com/office/drawing/2014/main" val="4226646810"/>
                    </a:ext>
                  </a:extLst>
                </a:gridCol>
                <a:gridCol w="1227352">
                  <a:extLst>
                    <a:ext uri="{9D8B030D-6E8A-4147-A177-3AD203B41FA5}">
                      <a16:colId xmlns:a16="http://schemas.microsoft.com/office/drawing/2014/main" val="3295356729"/>
                    </a:ext>
                  </a:extLst>
                </a:gridCol>
                <a:gridCol w="1532058">
                  <a:extLst>
                    <a:ext uri="{9D8B030D-6E8A-4147-A177-3AD203B41FA5}">
                      <a16:colId xmlns:a16="http://schemas.microsoft.com/office/drawing/2014/main" val="4235751352"/>
                    </a:ext>
                  </a:extLst>
                </a:gridCol>
              </a:tblGrid>
              <a:tr h="915353">
                <a:tc>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Clinical Group</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Non-Reactional Patients</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rowSpan="2">
                  <a:txBody>
                    <a:bodyPr/>
                    <a:lstStyle/>
                    <a:p>
                      <a:pPr algn="ctr">
                        <a:lnSpc>
                          <a:spcPct val="100000"/>
                        </a:lnSpc>
                        <a:spcAft>
                          <a:spcPts val="1000"/>
                        </a:spcAft>
                        <a:buNone/>
                      </a:pPr>
                      <a:r>
                        <a:rPr lang="en-US" sz="1800" dirty="0">
                          <a:effectLst/>
                          <a:latin typeface="Times New Roman" panose="02020603050405020304" pitchFamily="18" charset="0"/>
                          <a:cs typeface="Times New Roman" panose="02020603050405020304" pitchFamily="18" charset="0"/>
                        </a:rPr>
                        <a:t>Relapse </a:t>
                      </a:r>
                    </a:p>
                    <a:p>
                      <a:pPr algn="ctr">
                        <a:lnSpc>
                          <a:spcPct val="100000"/>
                        </a:lnSpc>
                        <a:spcAft>
                          <a:spcPts val="1000"/>
                        </a:spcAft>
                        <a:buNone/>
                      </a:pPr>
                      <a:r>
                        <a:rPr lang="en-US" sz="1800" dirty="0">
                          <a:effectLst/>
                          <a:latin typeface="Times New Roman" panose="02020603050405020304" pitchFamily="18" charset="0"/>
                          <a:cs typeface="Times New Roman" panose="02020603050405020304" pitchFamily="18" charset="0"/>
                        </a:rPr>
                        <a:t>(n = 03)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rowSpan="2">
                  <a:txBody>
                    <a:bodyPr/>
                    <a:lstStyle/>
                    <a:p>
                      <a:pPr algn="ctr">
                        <a:lnSpc>
                          <a:spcPct val="100000"/>
                        </a:lnSpc>
                        <a:spcAft>
                          <a:spcPts val="1000"/>
                        </a:spcAft>
                        <a:buNone/>
                      </a:pPr>
                      <a:r>
                        <a:rPr lang="en-US" sz="1800" dirty="0">
                          <a:effectLst/>
                          <a:latin typeface="Times New Roman" panose="02020603050405020304" pitchFamily="18" charset="0"/>
                          <a:cs typeface="Times New Roman" panose="02020603050405020304" pitchFamily="18" charset="0"/>
                        </a:rPr>
                        <a:t>Defaulter (n = 04)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Reactional Patients</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873933711"/>
                  </a:ext>
                </a:extLst>
              </a:tr>
              <a:tr h="915353">
                <a:tc>
                  <a:txBody>
                    <a:bodyPr/>
                    <a:lstStyle/>
                    <a:p>
                      <a:pPr algn="ctr">
                        <a:lnSpc>
                          <a:spcPct val="150000"/>
                        </a:lnSpc>
                        <a:spcAft>
                          <a:spcPts val="1000"/>
                        </a:spcAft>
                        <a:buNone/>
                      </a:pPr>
                      <a:r>
                        <a:rPr lang="en-US"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New Patients (n = 15)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vMerge="1">
                  <a:txBody>
                    <a:bodyPr/>
                    <a:lstStyle/>
                    <a:p>
                      <a:endParaRPr lang="en-IN"/>
                    </a:p>
                  </a:txBody>
                  <a:tcPr/>
                </a:tc>
                <a:tc vMerge="1">
                  <a:txBody>
                    <a:bodyPr/>
                    <a:lstStyle/>
                    <a:p>
                      <a:endParaRPr lang="en-IN"/>
                    </a:p>
                  </a:txBody>
                  <a:tcPr/>
                </a:tc>
                <a:tc>
                  <a:txBody>
                    <a:bodyPr/>
                    <a:lstStyle/>
                    <a:p>
                      <a:pPr algn="ctr">
                        <a:lnSpc>
                          <a:spcPct val="100000"/>
                        </a:lnSpc>
                        <a:spcAft>
                          <a:spcPts val="1000"/>
                        </a:spcAft>
                        <a:buNone/>
                      </a:pPr>
                      <a:r>
                        <a:rPr lang="en-US" sz="1800" dirty="0">
                          <a:effectLst/>
                          <a:latin typeface="Times New Roman" panose="02020603050405020304" pitchFamily="18" charset="0"/>
                          <a:cs typeface="Times New Roman" panose="02020603050405020304" pitchFamily="18" charset="0"/>
                        </a:rPr>
                        <a:t>T1R </a:t>
                      </a:r>
                    </a:p>
                    <a:p>
                      <a:pPr algn="ctr">
                        <a:lnSpc>
                          <a:spcPct val="100000"/>
                        </a:lnSpc>
                        <a:spcAft>
                          <a:spcPts val="1000"/>
                        </a:spcAft>
                        <a:buNone/>
                      </a:pPr>
                      <a:r>
                        <a:rPr lang="en-US" sz="1800" dirty="0">
                          <a:effectLst/>
                          <a:latin typeface="Times New Roman" panose="02020603050405020304" pitchFamily="18" charset="0"/>
                          <a:cs typeface="Times New Roman" panose="02020603050405020304" pitchFamily="18" charset="0"/>
                        </a:rPr>
                        <a:t>(n = 10)</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T2R (n = 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6939569"/>
                  </a:ext>
                </a:extLst>
              </a:tr>
              <a:tr h="915353">
                <a:tc>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16SrRNA (Mean ± SD)</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17882.42 ± 578.12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1517.13 ± 582.01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1954.25 ± 376.72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64698.57 ± 154.31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2448.49 ± 180.06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2753573"/>
                  </a:ext>
                </a:extLst>
              </a:tr>
              <a:tr h="597550">
                <a:tc>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esxA (Mean ± SD)</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dirty="0">
                          <a:effectLst/>
                          <a:latin typeface="Times New Roman" panose="02020603050405020304" pitchFamily="18" charset="0"/>
                          <a:cs typeface="Times New Roman" panose="02020603050405020304" pitchFamily="18" charset="0"/>
                        </a:rPr>
                        <a:t>87.71 ± 13.89</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dirty="0">
                          <a:effectLst/>
                          <a:latin typeface="Times New Roman" panose="02020603050405020304" pitchFamily="18" charset="0"/>
                          <a:cs typeface="Times New Roman" panose="02020603050405020304" pitchFamily="18" charset="0"/>
                        </a:rPr>
                        <a:t>146.58 ± 46.45</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60.58 ± 38.29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104.84 ± 13.43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134.14 ± 64.08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59174612"/>
                  </a:ext>
                </a:extLst>
              </a:tr>
              <a:tr h="915353">
                <a:tc>
                  <a:txBody>
                    <a:bodyPr/>
                    <a:lstStyle/>
                    <a:p>
                      <a:pPr algn="ctr">
                        <a:lnSpc>
                          <a:spcPct val="150000"/>
                        </a:lnSpc>
                        <a:spcAft>
                          <a:spcPts val="1000"/>
                        </a:spcAft>
                        <a:buNone/>
                      </a:pPr>
                      <a:r>
                        <a:rPr lang="en-US" sz="1800" b="1" dirty="0">
                          <a:effectLst/>
                          <a:latin typeface="Times New Roman" panose="02020603050405020304" pitchFamily="18" charset="0"/>
                          <a:cs typeface="Times New Roman" panose="02020603050405020304" pitchFamily="18" charset="0"/>
                        </a:rPr>
                        <a:t>hsp18 (Mean ± SD)</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dirty="0">
                          <a:effectLst/>
                          <a:latin typeface="Times New Roman" panose="02020603050405020304" pitchFamily="18" charset="0"/>
                          <a:cs typeface="Times New Roman" panose="02020603050405020304" pitchFamily="18" charset="0"/>
                        </a:rPr>
                        <a:t>37.57 ± 8.69</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5.25 ± 1.39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2.06 ± 2.30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a:effectLst/>
                          <a:latin typeface="Times New Roman" panose="02020603050405020304" pitchFamily="18" charset="0"/>
                          <a:cs typeface="Times New Roman" panose="02020603050405020304" pitchFamily="18" charset="0"/>
                        </a:rPr>
                        <a:t>196.69 ± 30.29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1000"/>
                        </a:spcAft>
                        <a:buNone/>
                      </a:pPr>
                      <a:r>
                        <a:rPr lang="en-US" sz="1800" dirty="0">
                          <a:effectLst/>
                          <a:latin typeface="Times New Roman" panose="02020603050405020304" pitchFamily="18" charset="0"/>
                          <a:cs typeface="Times New Roman" panose="02020603050405020304" pitchFamily="18" charset="0"/>
                        </a:rPr>
                        <a:t>3.94 ± 1.71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76480817"/>
                  </a:ext>
                </a:extLst>
              </a:tr>
            </a:tbl>
          </a:graphicData>
        </a:graphic>
      </p:graphicFrame>
    </p:spTree>
    <p:extLst>
      <p:ext uri="{BB962C8B-B14F-4D97-AF65-F5344CB8AC3E}">
        <p14:creationId xmlns:p14="http://schemas.microsoft.com/office/powerpoint/2010/main" val="2296011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75C50C4-2142-6933-EBEB-48DE67C9B1DB}"/>
              </a:ext>
            </a:extLst>
          </p:cNvPr>
          <p:cNvGraphicFramePr/>
          <p:nvPr>
            <p:extLst>
              <p:ext uri="{D42A27DB-BD31-4B8C-83A1-F6EECF244321}">
                <p14:modId xmlns:p14="http://schemas.microsoft.com/office/powerpoint/2010/main" val="13892819"/>
              </p:ext>
            </p:extLst>
          </p:nvPr>
        </p:nvGraphicFramePr>
        <p:xfrm>
          <a:off x="765109" y="895738"/>
          <a:ext cx="7557797" cy="435739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B1DF9FA-D9A9-393C-DF3E-1B56705D60D8}"/>
              </a:ext>
            </a:extLst>
          </p:cNvPr>
          <p:cNvSpPr txBox="1"/>
          <p:nvPr/>
        </p:nvSpPr>
        <p:spPr>
          <a:xfrm>
            <a:off x="629815" y="5253136"/>
            <a:ext cx="7828384" cy="646331"/>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Figure 3:</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Bar graph representing copy number of genes in logarithmic scale in non-reaction and reactional patients of leprosy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469D5B7-F84D-6679-F353-A6E166437333}"/>
              </a:ext>
            </a:extLst>
          </p:cNvPr>
          <p:cNvSpPr txBox="1"/>
          <p:nvPr/>
        </p:nvSpPr>
        <p:spPr>
          <a:xfrm>
            <a:off x="3718560" y="365760"/>
            <a:ext cx="1231427" cy="553998"/>
          </a:xfrm>
          <a:prstGeom prst="rect">
            <a:avLst/>
          </a:prstGeom>
          <a:noFill/>
        </p:spPr>
        <p:txBody>
          <a:bodyPr wrap="none" rtlCol="0">
            <a:spAutoFit/>
          </a:bodyPr>
          <a:lstStyle/>
          <a:p>
            <a:r>
              <a:rPr lang="en-US" sz="3000" b="1" dirty="0">
                <a:latin typeface="Times New Roman" panose="02020603050405020304" pitchFamily="18" charset="0"/>
                <a:cs typeface="Times New Roman" panose="02020603050405020304" pitchFamily="18" charset="0"/>
              </a:rPr>
              <a:t>Result</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335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B6BA1-0E19-CF30-709F-E2AC897FBB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7E4B03-FFA3-99DB-5051-3F82A478E589}"/>
              </a:ext>
            </a:extLst>
          </p:cNvPr>
          <p:cNvPicPr>
            <a:picLocks noChangeAspect="1"/>
          </p:cNvPicPr>
          <p:nvPr/>
        </p:nvPicPr>
        <p:blipFill>
          <a:blip r:embed="rId2"/>
          <a:stretch>
            <a:fillRect/>
          </a:stretch>
        </p:blipFill>
        <p:spPr>
          <a:xfrm>
            <a:off x="33632" y="0"/>
            <a:ext cx="1281983" cy="863978"/>
          </a:xfrm>
          <a:prstGeom prst="rect">
            <a:avLst/>
          </a:prstGeom>
        </p:spPr>
      </p:pic>
      <p:pic>
        <p:nvPicPr>
          <p:cNvPr id="5" name="Picture 4" descr="The Leprosy Mission Trust India">
            <a:extLst>
              <a:ext uri="{FF2B5EF4-FFF2-40B4-BE49-F238E27FC236}">
                <a16:creationId xmlns:a16="http://schemas.microsoft.com/office/drawing/2014/main" id="{A3014E61-27DA-A16A-CEEF-A4D066340616}"/>
              </a:ext>
            </a:extLst>
          </p:cNvPr>
          <p:cNvPicPr>
            <a:picLocks noChangeAspect="1"/>
          </p:cNvPicPr>
          <p:nvPr/>
        </p:nvPicPr>
        <p:blipFill>
          <a:blip r:embed="rId3"/>
          <a:stretch>
            <a:fillRect/>
          </a:stretch>
        </p:blipFill>
        <p:spPr>
          <a:xfrm>
            <a:off x="7195237" y="91440"/>
            <a:ext cx="1893770" cy="631257"/>
          </a:xfrm>
          <a:prstGeom prst="rect">
            <a:avLst/>
          </a:prstGeom>
        </p:spPr>
      </p:pic>
      <p:sp>
        <p:nvSpPr>
          <p:cNvPr id="4" name="TextBox 3">
            <a:extLst>
              <a:ext uri="{FF2B5EF4-FFF2-40B4-BE49-F238E27FC236}">
                <a16:creationId xmlns:a16="http://schemas.microsoft.com/office/drawing/2014/main" id="{D9B6FE9E-2B1A-00BC-CBDC-61170AD23B45}"/>
              </a:ext>
            </a:extLst>
          </p:cNvPr>
          <p:cNvSpPr txBox="1"/>
          <p:nvPr/>
        </p:nvSpPr>
        <p:spPr>
          <a:xfrm>
            <a:off x="422693" y="1016111"/>
            <a:ext cx="8082951" cy="5601533"/>
          </a:xfrm>
          <a:prstGeom prst="rect">
            <a:avLst/>
          </a:prstGeom>
          <a:noFill/>
        </p:spPr>
        <p:txBody>
          <a:bodyPr wrap="square">
            <a:spAutoFit/>
          </a:bodyPr>
          <a:lstStyle/>
          <a:p>
            <a:pPr>
              <a:spcBef>
                <a:spcPts val="600"/>
              </a:spcBef>
              <a:spcAft>
                <a:spcPts val="600"/>
              </a:spcAft>
            </a:pPr>
            <a:r>
              <a:rPr lang="en-IN" dirty="0">
                <a:latin typeface="Times New Roman" panose="02020603050405020304" pitchFamily="18" charset="0"/>
                <a:cs typeface="Times New Roman" panose="02020603050405020304" pitchFamily="18" charset="0"/>
              </a:rPr>
              <a:t>• Expression levels of </a:t>
            </a:r>
            <a:r>
              <a:rPr lang="en-IN" i="1" dirty="0">
                <a:latin typeface="Times New Roman" panose="02020603050405020304" pitchFamily="18" charset="0"/>
                <a:cs typeface="Times New Roman" panose="02020603050405020304" pitchFamily="18" charset="0"/>
              </a:rPr>
              <a:t>16S rRNA, esxA, and hsp18 </a:t>
            </a:r>
            <a:r>
              <a:rPr lang="en-IN" dirty="0">
                <a:latin typeface="Times New Roman" panose="02020603050405020304" pitchFamily="18" charset="0"/>
                <a:cs typeface="Times New Roman" panose="02020603050405020304" pitchFamily="18" charset="0"/>
              </a:rPr>
              <a:t>varied across different clinical categories of leprosy patients.</a:t>
            </a:r>
          </a:p>
          <a:p>
            <a:pPr>
              <a:spcBef>
                <a:spcPts val="600"/>
              </a:spcBef>
              <a:spcAft>
                <a:spcPts val="600"/>
              </a:spcAft>
            </a:pPr>
            <a:r>
              <a:rPr lang="en-IN" dirty="0">
                <a:latin typeface="Times New Roman" panose="02020603050405020304" pitchFamily="18" charset="0"/>
                <a:cs typeface="Times New Roman" panose="02020603050405020304" pitchFamily="18" charset="0"/>
              </a:rPr>
              <a:t>• T1R patients showed the highest </a:t>
            </a:r>
            <a:r>
              <a:rPr lang="en-IN" i="1" dirty="0">
                <a:latin typeface="Times New Roman" panose="02020603050405020304" pitchFamily="18" charset="0"/>
                <a:cs typeface="Times New Roman" panose="02020603050405020304" pitchFamily="18" charset="0"/>
              </a:rPr>
              <a:t>16S rRNA </a:t>
            </a:r>
            <a:r>
              <a:rPr lang="en-IN" dirty="0">
                <a:latin typeface="Times New Roman" panose="02020603050405020304" pitchFamily="18" charset="0"/>
                <a:cs typeface="Times New Roman" panose="02020603050405020304" pitchFamily="18" charset="0"/>
              </a:rPr>
              <a:t>expression, indicating a substantial viable bacillary load.</a:t>
            </a:r>
          </a:p>
          <a:p>
            <a:pPr>
              <a:spcBef>
                <a:spcPts val="600"/>
              </a:spcBef>
              <a:spcAft>
                <a:spcPts val="600"/>
              </a:spcAft>
            </a:pPr>
            <a:r>
              <a:rPr lang="en-IN" dirty="0">
                <a:latin typeface="Times New Roman" panose="02020603050405020304" pitchFamily="18" charset="0"/>
                <a:cs typeface="Times New Roman" panose="02020603050405020304" pitchFamily="18" charset="0"/>
              </a:rPr>
              <a:t>• Newly diagnosed cases also exhibited elevated </a:t>
            </a:r>
            <a:r>
              <a:rPr lang="en-IN" i="1" dirty="0">
                <a:latin typeface="Times New Roman" panose="02020603050405020304" pitchFamily="18" charset="0"/>
                <a:cs typeface="Times New Roman" panose="02020603050405020304" pitchFamily="18" charset="0"/>
              </a:rPr>
              <a:t>16S rRNA </a:t>
            </a:r>
            <a:r>
              <a:rPr lang="en-IN" dirty="0">
                <a:latin typeface="Times New Roman" panose="02020603050405020304" pitchFamily="18" charset="0"/>
                <a:cs typeface="Times New Roman" panose="02020603050405020304" pitchFamily="18" charset="0"/>
              </a:rPr>
              <a:t>levels, reflecting active bacillary presence before MDT.</a:t>
            </a:r>
          </a:p>
          <a:p>
            <a:pPr>
              <a:spcBef>
                <a:spcPts val="600"/>
              </a:spcBef>
              <a:spcAft>
                <a:spcPts val="600"/>
              </a:spcAft>
            </a:pPr>
            <a:r>
              <a:rPr lang="en-IN" dirty="0">
                <a:latin typeface="Times New Roman" panose="02020603050405020304" pitchFamily="18" charset="0"/>
                <a:cs typeface="Times New Roman" panose="02020603050405020304" pitchFamily="18" charset="0"/>
              </a:rPr>
              <a:t>• Relapse patients recorded the highest </a:t>
            </a:r>
            <a:r>
              <a:rPr lang="en-IN" i="1" dirty="0">
                <a:latin typeface="Times New Roman" panose="02020603050405020304" pitchFamily="18" charset="0"/>
                <a:cs typeface="Times New Roman" panose="02020603050405020304" pitchFamily="18" charset="0"/>
              </a:rPr>
              <a:t>esxA</a:t>
            </a:r>
            <a:r>
              <a:rPr lang="en-IN" dirty="0">
                <a:latin typeface="Times New Roman" panose="02020603050405020304" pitchFamily="18" charset="0"/>
                <a:cs typeface="Times New Roman" panose="02020603050405020304" pitchFamily="18" charset="0"/>
              </a:rPr>
              <a:t> expression, suggesting persistence of metabolically active bacilli after treatment.</a:t>
            </a:r>
          </a:p>
          <a:p>
            <a:pPr>
              <a:spcBef>
                <a:spcPts val="600"/>
              </a:spcBef>
              <a:spcAft>
                <a:spcPts val="600"/>
              </a:spcAft>
            </a:pPr>
            <a:r>
              <a:rPr lang="en-IN" dirty="0">
                <a:latin typeface="Times New Roman" panose="02020603050405020304" pitchFamily="18" charset="0"/>
                <a:cs typeface="Times New Roman" panose="02020603050405020304" pitchFamily="18" charset="0"/>
              </a:rPr>
              <a:t>• Increased esxA expression was also observed in T2R patients, indicating ongoing bacterial metabolic activity during reactional episodes.</a:t>
            </a:r>
          </a:p>
          <a:p>
            <a:pPr>
              <a:spcBef>
                <a:spcPts val="600"/>
              </a:spcBef>
              <a:spcAft>
                <a:spcPts val="600"/>
              </a:spcAft>
            </a:pPr>
            <a:r>
              <a:rPr lang="en-IN" dirty="0">
                <a:latin typeface="Times New Roman" panose="02020603050405020304" pitchFamily="18" charset="0"/>
                <a:cs typeface="Times New Roman" panose="02020603050405020304" pitchFamily="18" charset="0"/>
              </a:rPr>
              <a:t>• T1R patients demonstrated maximum </a:t>
            </a:r>
            <a:r>
              <a:rPr lang="en-IN" i="1" dirty="0">
                <a:latin typeface="Times New Roman" panose="02020603050405020304" pitchFamily="18" charset="0"/>
                <a:cs typeface="Times New Roman" panose="02020603050405020304" pitchFamily="18" charset="0"/>
              </a:rPr>
              <a:t>hsp18</a:t>
            </a:r>
            <a:r>
              <a:rPr lang="en-IN" dirty="0">
                <a:latin typeface="Times New Roman" panose="02020603050405020304" pitchFamily="18" charset="0"/>
                <a:cs typeface="Times New Roman" panose="02020603050405020304" pitchFamily="18" charset="0"/>
              </a:rPr>
              <a:t> expression, reflecting enhanced bacterial stress-response mechanisms.</a:t>
            </a:r>
          </a:p>
          <a:p>
            <a:pPr>
              <a:spcBef>
                <a:spcPts val="600"/>
              </a:spcBef>
              <a:spcAft>
                <a:spcPts val="600"/>
              </a:spcAft>
            </a:pPr>
            <a:r>
              <a:rPr lang="en-IN" dirty="0">
                <a:latin typeface="Times New Roman" panose="02020603050405020304" pitchFamily="18" charset="0"/>
                <a:cs typeface="Times New Roman" panose="02020603050405020304" pitchFamily="18" charset="0"/>
              </a:rPr>
              <a:t>• Defaulter patients exhibited the lowest </a:t>
            </a:r>
            <a:r>
              <a:rPr lang="en-IN" i="1" dirty="0">
                <a:latin typeface="Times New Roman" panose="02020603050405020304" pitchFamily="18" charset="0"/>
                <a:cs typeface="Times New Roman" panose="02020603050405020304" pitchFamily="18" charset="0"/>
              </a:rPr>
              <a:t>esxA </a:t>
            </a:r>
            <a:r>
              <a:rPr lang="en-IN" dirty="0">
                <a:latin typeface="Times New Roman" panose="02020603050405020304" pitchFamily="18" charset="0"/>
                <a:cs typeface="Times New Roman" panose="02020603050405020304" pitchFamily="18" charset="0"/>
              </a:rPr>
              <a:t>and </a:t>
            </a:r>
            <a:r>
              <a:rPr lang="en-IN" i="1" dirty="0">
                <a:latin typeface="Times New Roman" panose="02020603050405020304" pitchFamily="18" charset="0"/>
                <a:cs typeface="Times New Roman" panose="02020603050405020304" pitchFamily="18" charset="0"/>
              </a:rPr>
              <a:t>hsp18</a:t>
            </a:r>
            <a:r>
              <a:rPr lang="en-IN" dirty="0">
                <a:latin typeface="Times New Roman" panose="02020603050405020304" pitchFamily="18" charset="0"/>
                <a:cs typeface="Times New Roman" panose="02020603050405020304" pitchFamily="18" charset="0"/>
              </a:rPr>
              <a:t> expression levels among the study groups.</a:t>
            </a:r>
          </a:p>
          <a:p>
            <a:pPr>
              <a:spcBef>
                <a:spcPts val="600"/>
              </a:spcBef>
              <a:spcAft>
                <a:spcPts val="600"/>
              </a:spcAft>
            </a:pPr>
            <a:r>
              <a:rPr lang="en-IN" dirty="0">
                <a:latin typeface="Times New Roman" panose="02020603050405020304" pitchFamily="18" charset="0"/>
                <a:cs typeface="Times New Roman" panose="02020603050405020304" pitchFamily="18" charset="0"/>
              </a:rPr>
              <a:t>• The combined assessment of these markers provides insight into bacterial viability, metabolic activity, and stress adaptation in leprosy.</a:t>
            </a:r>
          </a:p>
        </p:txBody>
      </p:sp>
      <p:sp>
        <p:nvSpPr>
          <p:cNvPr id="6" name="TextBox 5">
            <a:extLst>
              <a:ext uri="{FF2B5EF4-FFF2-40B4-BE49-F238E27FC236}">
                <a16:creationId xmlns:a16="http://schemas.microsoft.com/office/drawing/2014/main" id="{24ECBF00-7FB4-199B-1BCF-75A95FE34375}"/>
              </a:ext>
            </a:extLst>
          </p:cNvPr>
          <p:cNvSpPr txBox="1"/>
          <p:nvPr/>
        </p:nvSpPr>
        <p:spPr>
          <a:xfrm>
            <a:off x="3718560" y="365760"/>
            <a:ext cx="1231427" cy="553998"/>
          </a:xfrm>
          <a:prstGeom prst="rect">
            <a:avLst/>
          </a:prstGeom>
          <a:noFill/>
        </p:spPr>
        <p:txBody>
          <a:bodyPr wrap="none" rtlCol="0">
            <a:spAutoFit/>
          </a:bodyPr>
          <a:lstStyle/>
          <a:p>
            <a:r>
              <a:rPr lang="en-US" sz="3000" b="1" dirty="0">
                <a:latin typeface="Times New Roman" panose="02020603050405020304" pitchFamily="18" charset="0"/>
                <a:cs typeface="Times New Roman" panose="02020603050405020304" pitchFamily="18" charset="0"/>
              </a:rPr>
              <a:t>Result</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996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31530-B4B5-8374-3F1B-9A791AC49907}"/>
              </a:ext>
            </a:extLst>
          </p:cNvPr>
          <p:cNvSpPr txBox="1"/>
          <p:nvPr/>
        </p:nvSpPr>
        <p:spPr>
          <a:xfrm>
            <a:off x="1390261" y="452466"/>
            <a:ext cx="6428792"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Limitations</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000651B-0F68-F949-645C-3C211B6A2E40}"/>
              </a:ext>
            </a:extLst>
          </p:cNvPr>
          <p:cNvSpPr txBox="1"/>
          <p:nvPr/>
        </p:nvSpPr>
        <p:spPr>
          <a:xfrm>
            <a:off x="563181" y="1902870"/>
            <a:ext cx="8082951" cy="1704569"/>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The study was conducted over a short duration with a limited sample size, which may affect the strength of comparative analysis and generalizability of results. </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0160786-B03A-4226-F0CA-EAC72F0F7E37}"/>
              </a:ext>
            </a:extLst>
          </p:cNvPr>
          <p:cNvSpPr txBox="1"/>
          <p:nvPr/>
        </p:nvSpPr>
        <p:spPr>
          <a:xfrm>
            <a:off x="563181" y="1462187"/>
            <a:ext cx="4572000" cy="369332"/>
          </a:xfrm>
          <a:prstGeom prst="rect">
            <a:avLst/>
          </a:prstGeom>
          <a:noFill/>
        </p:spPr>
        <p:txBody>
          <a:bodyPr wrap="square">
            <a:spAutoFit/>
          </a:bodyPr>
          <a:lstStyle/>
          <a:p>
            <a:pPr marL="285750" indent="-285750">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Limitations</a:t>
            </a:r>
            <a:endParaRPr lang="en-IN" dirty="0"/>
          </a:p>
        </p:txBody>
      </p:sp>
    </p:spTree>
    <p:extLst>
      <p:ext uri="{BB962C8B-B14F-4D97-AF65-F5344CB8AC3E}">
        <p14:creationId xmlns:p14="http://schemas.microsoft.com/office/powerpoint/2010/main" val="1768886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98732-2B49-84C2-D5D7-5643B1F2A053}"/>
              </a:ext>
            </a:extLst>
          </p:cNvPr>
          <p:cNvSpPr txBox="1"/>
          <p:nvPr/>
        </p:nvSpPr>
        <p:spPr>
          <a:xfrm>
            <a:off x="3032449" y="690465"/>
            <a:ext cx="184731" cy="369332"/>
          </a:xfrm>
          <a:prstGeom prst="rect">
            <a:avLst/>
          </a:prstGeom>
          <a:noFill/>
        </p:spPr>
        <p:txBody>
          <a:bodyPr wrap="none" rtlCol="0">
            <a:spAutoFit/>
          </a:bodyPr>
          <a:lstStyle/>
          <a:p>
            <a:endParaRPr lang="en-IN" dirty="0"/>
          </a:p>
        </p:txBody>
      </p:sp>
      <p:sp>
        <p:nvSpPr>
          <p:cNvPr id="4" name="TextBox 3">
            <a:extLst>
              <a:ext uri="{FF2B5EF4-FFF2-40B4-BE49-F238E27FC236}">
                <a16:creationId xmlns:a16="http://schemas.microsoft.com/office/drawing/2014/main" id="{4364EB90-791F-8C2D-F2F1-74C4F7AB2105}"/>
              </a:ext>
            </a:extLst>
          </p:cNvPr>
          <p:cNvSpPr txBox="1"/>
          <p:nvPr/>
        </p:nvSpPr>
        <p:spPr>
          <a:xfrm>
            <a:off x="0" y="83976"/>
            <a:ext cx="9144000" cy="3093154"/>
          </a:xfrm>
          <a:prstGeom prst="rect">
            <a:avLst/>
          </a:prstGeom>
          <a:noFill/>
        </p:spPr>
        <p:txBody>
          <a:bodyPr wrap="square">
            <a:spAutoFit/>
          </a:bodyPr>
          <a:lstStyle/>
          <a:p>
            <a:pPr algn="ctr">
              <a:lnSpc>
                <a:spcPct val="150000"/>
              </a:lnSpc>
            </a:pPr>
            <a:r>
              <a:rPr lang="en-US" sz="4000" b="1" dirty="0">
                <a:latin typeface="Times New Roman" panose="02020603050405020304" pitchFamily="18" charset="0"/>
                <a:cs typeface="Times New Roman" panose="02020603050405020304" pitchFamily="18" charset="0"/>
              </a:rPr>
              <a:t>Conclusion</a:t>
            </a:r>
          </a:p>
          <a:p>
            <a:pPr>
              <a:lnSpc>
                <a:spcPct val="150000"/>
              </a:lnSpc>
            </a:pPr>
            <a:endParaRPr lang="en-US" b="1"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molecular viability markers 16S rRNA, esxA, and hsp18 showed distinct expression patterns across different clinical categories of leprosy. 16S rRNA reflected differences in viable bacillary load, esxA was highest in relapse cases, suggesting persistent metabolically active bacilli, and hsp18 was elevated in T1R patients, reflecting a bacterial stress response. Overall, these genes are promising molecular markers for assessing bacterial viability, disease activity, and treatment monitoring in leprosy.</a:t>
            </a:r>
          </a:p>
        </p:txBody>
      </p:sp>
    </p:spTree>
    <p:extLst>
      <p:ext uri="{BB962C8B-B14F-4D97-AF65-F5344CB8AC3E}">
        <p14:creationId xmlns:p14="http://schemas.microsoft.com/office/powerpoint/2010/main" val="2022609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A24E55-2049-6D72-8B5A-C7236D4B7EE7}"/>
              </a:ext>
            </a:extLst>
          </p:cNvPr>
          <p:cNvSpPr txBox="1"/>
          <p:nvPr/>
        </p:nvSpPr>
        <p:spPr>
          <a:xfrm>
            <a:off x="3004457" y="205894"/>
            <a:ext cx="2568652"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References</a:t>
            </a:r>
            <a:endParaRPr lang="en-IN" sz="4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37905B4-A6EA-C129-F9D3-6F956BF27EDE}"/>
              </a:ext>
            </a:extLst>
          </p:cNvPr>
          <p:cNvSpPr txBox="1"/>
          <p:nvPr/>
        </p:nvSpPr>
        <p:spPr>
          <a:xfrm>
            <a:off x="307910" y="989045"/>
            <a:ext cx="8528180" cy="5262979"/>
          </a:xfrm>
          <a:prstGeom prst="rect">
            <a:avLst/>
          </a:prstGeom>
          <a:noFill/>
        </p:spPr>
        <p:txBody>
          <a:bodyPr wrap="square">
            <a:spAutoFit/>
          </a:bodyPr>
          <a:lstStyle/>
          <a:p>
            <a:pPr>
              <a:buFont typeface="+mj-lt"/>
              <a:buAutoNum type="arabicPeriod"/>
            </a:pPr>
            <a:r>
              <a:rPr lang="en-IN" sz="1400" dirty="0">
                <a:latin typeface="Times New Roman" panose="02020603050405020304" pitchFamily="18" charset="0"/>
                <a:cs typeface="Times New Roman" panose="02020603050405020304" pitchFamily="18" charset="0"/>
              </a:rPr>
              <a:t>World Health Organization. (2024). </a:t>
            </a:r>
            <a:r>
              <a:rPr lang="en-IN" sz="1400" i="1" dirty="0">
                <a:latin typeface="Times New Roman" panose="02020603050405020304" pitchFamily="18" charset="0"/>
                <a:cs typeface="Times New Roman" panose="02020603050405020304" pitchFamily="18" charset="0"/>
              </a:rPr>
              <a:t>Global leprosy (Hansen disease) update 2023</a:t>
            </a:r>
            <a:r>
              <a:rPr lang="en-IN" sz="1400" dirty="0">
                <a:latin typeface="Times New Roman" panose="02020603050405020304" pitchFamily="18" charset="0"/>
                <a:cs typeface="Times New Roman" panose="02020603050405020304" pitchFamily="18" charset="0"/>
              </a:rPr>
              <a:t>. https://www.who.int/teams/global-leprosy-programme </a:t>
            </a:r>
          </a:p>
          <a:p>
            <a:pPr>
              <a:buFont typeface="+mj-lt"/>
              <a:buAutoNum type="arabicPeriod"/>
            </a:pPr>
            <a:r>
              <a:rPr lang="en-IN" sz="1400" dirty="0">
                <a:latin typeface="Times New Roman" panose="02020603050405020304" pitchFamily="18" charset="0"/>
                <a:cs typeface="Times New Roman" panose="02020603050405020304" pitchFamily="18" charset="0"/>
              </a:rPr>
              <a:t>Scollard, D. M., Adams, L. B., Gillis, T. P., Krahenbuhl, J. L., Truman, R. W., &amp; Williams, D. L. (2006). The continuing challenges of leprosy. </a:t>
            </a:r>
            <a:r>
              <a:rPr lang="en-IN" sz="1400" i="1" dirty="0">
                <a:latin typeface="Times New Roman" panose="02020603050405020304" pitchFamily="18" charset="0"/>
                <a:cs typeface="Times New Roman" panose="02020603050405020304" pitchFamily="18" charset="0"/>
              </a:rPr>
              <a:t>Clinical Microbiology Reviews, 19</a:t>
            </a:r>
            <a:r>
              <a:rPr lang="en-IN" sz="1400" dirty="0">
                <a:latin typeface="Times New Roman" panose="02020603050405020304" pitchFamily="18" charset="0"/>
                <a:cs typeface="Times New Roman" panose="02020603050405020304" pitchFamily="18" charset="0"/>
              </a:rPr>
              <a:t>(2), 338–381. https://doi.org/10.1128/CMR.19.2.338-381.2006 </a:t>
            </a:r>
          </a:p>
          <a:p>
            <a:pPr>
              <a:buFont typeface="+mj-lt"/>
              <a:buAutoNum type="arabicPeriod"/>
            </a:pPr>
            <a:r>
              <a:rPr lang="en-IN" sz="1400" dirty="0">
                <a:latin typeface="Times New Roman" panose="02020603050405020304" pitchFamily="18" charset="0"/>
                <a:cs typeface="Times New Roman" panose="02020603050405020304" pitchFamily="18" charset="0"/>
              </a:rPr>
              <a:t>Ridley, D. S., &amp; Jopling, W. H. (1966). Classification of leprosy according to immunity. </a:t>
            </a:r>
            <a:r>
              <a:rPr lang="en-IN" sz="1400" i="1" dirty="0">
                <a:latin typeface="Times New Roman" panose="02020603050405020304" pitchFamily="18" charset="0"/>
                <a:cs typeface="Times New Roman" panose="02020603050405020304" pitchFamily="18" charset="0"/>
              </a:rPr>
              <a:t>International Journal of Leprosy, 34</a:t>
            </a:r>
            <a:r>
              <a:rPr lang="en-IN" sz="1400" dirty="0">
                <a:latin typeface="Times New Roman" panose="02020603050405020304" pitchFamily="18" charset="0"/>
                <a:cs typeface="Times New Roman" panose="02020603050405020304" pitchFamily="18" charset="0"/>
              </a:rPr>
              <a:t>(3), 255–273. </a:t>
            </a:r>
          </a:p>
          <a:p>
            <a:pPr>
              <a:buFont typeface="+mj-lt"/>
              <a:buAutoNum type="arabicPeriod"/>
            </a:pPr>
            <a:r>
              <a:rPr lang="en-IN" sz="1400" dirty="0">
                <a:latin typeface="Times New Roman" panose="02020603050405020304" pitchFamily="18" charset="0"/>
                <a:cs typeface="Times New Roman" panose="02020603050405020304" pitchFamily="18" charset="0"/>
              </a:rPr>
              <a:t>Truman, R. W., Andrews, P. K., Robbins, N. Y., Adams, L. B., Krahenbuhl, J. L., &amp; Gillis, T. P. (2008). Enumeration of </a:t>
            </a:r>
            <a:r>
              <a:rPr lang="en-IN" sz="1400" i="1" dirty="0">
                <a:latin typeface="Times New Roman" panose="02020603050405020304" pitchFamily="18" charset="0"/>
                <a:cs typeface="Times New Roman" panose="02020603050405020304" pitchFamily="18" charset="0"/>
              </a:rPr>
              <a:t>Mycobacterium leprae</a:t>
            </a:r>
            <a:r>
              <a:rPr lang="en-IN" sz="1400" dirty="0">
                <a:latin typeface="Times New Roman" panose="02020603050405020304" pitchFamily="18" charset="0"/>
                <a:cs typeface="Times New Roman" panose="02020603050405020304" pitchFamily="18" charset="0"/>
              </a:rPr>
              <a:t> using real-time PCR. </a:t>
            </a:r>
            <a:r>
              <a:rPr lang="en-IN" sz="1400" i="1" dirty="0">
                <a:latin typeface="Times New Roman" panose="02020603050405020304" pitchFamily="18" charset="0"/>
                <a:cs typeface="Times New Roman" panose="02020603050405020304" pitchFamily="18" charset="0"/>
              </a:rPr>
              <a:t>PLoS Neglected Tropical Diseases, 2</a:t>
            </a:r>
            <a:r>
              <a:rPr lang="en-IN" sz="1400" dirty="0">
                <a:latin typeface="Times New Roman" panose="02020603050405020304" pitchFamily="18" charset="0"/>
                <a:cs typeface="Times New Roman" panose="02020603050405020304" pitchFamily="18" charset="0"/>
              </a:rPr>
              <a:t>(11), e328. https://doi.org/10.1371/journal.pntd.0000328 </a:t>
            </a:r>
          </a:p>
          <a:p>
            <a:pPr>
              <a:buFont typeface="+mj-lt"/>
              <a:buAutoNum type="arabicPeriod"/>
            </a:pPr>
            <a:r>
              <a:rPr lang="en-IN" sz="1400" dirty="0">
                <a:latin typeface="Times New Roman" panose="02020603050405020304" pitchFamily="18" charset="0"/>
                <a:cs typeface="Times New Roman" panose="02020603050405020304" pitchFamily="18" charset="0"/>
              </a:rPr>
              <a:t>Martinez, A. N., Ribeiro-Alves, M., Sarno, E. N., &amp; Moraes, M. O. (2011). Evaluation of qPCR-based assays for the detection of </a:t>
            </a:r>
            <a:r>
              <a:rPr lang="en-IN" sz="1400" i="1" dirty="0">
                <a:latin typeface="Times New Roman" panose="02020603050405020304" pitchFamily="18" charset="0"/>
                <a:cs typeface="Times New Roman" panose="02020603050405020304" pitchFamily="18" charset="0"/>
              </a:rPr>
              <a:t>Mycobacterium leprae</a:t>
            </a:r>
            <a:r>
              <a:rPr lang="en-IN" sz="1400" dirty="0">
                <a:latin typeface="Times New Roman" panose="02020603050405020304" pitchFamily="18" charset="0"/>
                <a:cs typeface="Times New Roman" panose="02020603050405020304" pitchFamily="18" charset="0"/>
              </a:rPr>
              <a:t> DNA in clinical samples. </a:t>
            </a:r>
            <a:r>
              <a:rPr lang="en-IN" sz="1400" i="1" dirty="0">
                <a:latin typeface="Times New Roman" panose="02020603050405020304" pitchFamily="18" charset="0"/>
                <a:cs typeface="Times New Roman" panose="02020603050405020304" pitchFamily="18" charset="0"/>
              </a:rPr>
              <a:t>PLoS Neglected Tropical Diseases, 5</a:t>
            </a:r>
            <a:r>
              <a:rPr lang="en-IN" sz="1400" dirty="0">
                <a:latin typeface="Times New Roman" panose="02020603050405020304" pitchFamily="18" charset="0"/>
                <a:cs typeface="Times New Roman" panose="02020603050405020304" pitchFamily="18" charset="0"/>
              </a:rPr>
              <a:t>(1), e1049. https://doi.org/10.1371/journal.pntd.0001049 </a:t>
            </a:r>
          </a:p>
          <a:p>
            <a:pPr>
              <a:buFont typeface="+mj-lt"/>
              <a:buAutoNum type="arabicPeriod"/>
            </a:pPr>
            <a:r>
              <a:rPr lang="en-IN" sz="1400" dirty="0">
                <a:latin typeface="Times New Roman" panose="02020603050405020304" pitchFamily="18" charset="0"/>
                <a:cs typeface="Times New Roman" panose="02020603050405020304" pitchFamily="18" charset="0"/>
              </a:rPr>
              <a:t>Monot, M., Honoré, N., Garnier, T., et al. (2005). On the origin of leprosy. </a:t>
            </a:r>
            <a:r>
              <a:rPr lang="en-IN" sz="1400" i="1" dirty="0">
                <a:latin typeface="Times New Roman" panose="02020603050405020304" pitchFamily="18" charset="0"/>
                <a:cs typeface="Times New Roman" panose="02020603050405020304" pitchFamily="18" charset="0"/>
              </a:rPr>
              <a:t>Science, 308</a:t>
            </a:r>
            <a:r>
              <a:rPr lang="en-IN" sz="1400" dirty="0">
                <a:latin typeface="Times New Roman" panose="02020603050405020304" pitchFamily="18" charset="0"/>
                <a:cs typeface="Times New Roman" panose="02020603050405020304" pitchFamily="18" charset="0"/>
              </a:rPr>
              <a:t>(5724), 1040–1042. https://doi.org/10.1126/science.1109759 </a:t>
            </a:r>
          </a:p>
          <a:p>
            <a:pPr>
              <a:buFont typeface="+mj-lt"/>
              <a:buAutoNum type="arabicPeriod"/>
            </a:pPr>
            <a:r>
              <a:rPr lang="en-IN" sz="1400" dirty="0">
                <a:latin typeface="Times New Roman" panose="02020603050405020304" pitchFamily="18" charset="0"/>
                <a:cs typeface="Times New Roman" panose="02020603050405020304" pitchFamily="18" charset="0"/>
              </a:rPr>
              <a:t>Cole, S. T., </a:t>
            </a:r>
            <a:r>
              <a:rPr lang="en-IN" sz="1400" dirty="0" err="1">
                <a:latin typeface="Times New Roman" panose="02020603050405020304" pitchFamily="18" charset="0"/>
                <a:cs typeface="Times New Roman" panose="02020603050405020304" pitchFamily="18" charset="0"/>
              </a:rPr>
              <a:t>Eiglmeier</a:t>
            </a:r>
            <a:r>
              <a:rPr lang="en-IN" sz="1400" dirty="0">
                <a:latin typeface="Times New Roman" panose="02020603050405020304" pitchFamily="18" charset="0"/>
                <a:cs typeface="Times New Roman" panose="02020603050405020304" pitchFamily="18" charset="0"/>
              </a:rPr>
              <a:t>, K., Parkhill, J., et al. (2001). Massive gene decay in the leprosy bacillus. </a:t>
            </a:r>
            <a:r>
              <a:rPr lang="en-IN" sz="1400" i="1" dirty="0">
                <a:latin typeface="Times New Roman" panose="02020603050405020304" pitchFamily="18" charset="0"/>
                <a:cs typeface="Times New Roman" panose="02020603050405020304" pitchFamily="18" charset="0"/>
              </a:rPr>
              <a:t>Nature, 409</a:t>
            </a:r>
            <a:r>
              <a:rPr lang="en-IN" sz="1400" dirty="0">
                <a:latin typeface="Times New Roman" panose="02020603050405020304" pitchFamily="18" charset="0"/>
                <a:cs typeface="Times New Roman" panose="02020603050405020304" pitchFamily="18" charset="0"/>
              </a:rPr>
              <a:t>(6823), 1007–1011. https://doi.org/10.1038/35059006 </a:t>
            </a:r>
          </a:p>
          <a:p>
            <a:pPr>
              <a:buFont typeface="+mj-lt"/>
              <a:buAutoNum type="arabicPeriod"/>
            </a:pPr>
            <a:r>
              <a:rPr lang="en-IN" sz="1400" dirty="0">
                <a:latin typeface="Times New Roman" panose="02020603050405020304" pitchFamily="18" charset="0"/>
                <a:cs typeface="Times New Roman" panose="02020603050405020304" pitchFamily="18" charset="0"/>
              </a:rPr>
              <a:t>Turankar, R. P., Pandey, S., Lavania, M., et al. (2012). Differential expression of stress-associated genes (</a:t>
            </a:r>
            <a:r>
              <a:rPr lang="en-IN" sz="1400" i="1" dirty="0">
                <a:latin typeface="Times New Roman" panose="02020603050405020304" pitchFamily="18" charset="0"/>
                <a:cs typeface="Times New Roman" panose="02020603050405020304" pitchFamily="18" charset="0"/>
              </a:rPr>
              <a:t>hsp18</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esxA</a:t>
            </a:r>
            <a:r>
              <a:rPr lang="en-IN" sz="1400" dirty="0">
                <a:latin typeface="Times New Roman" panose="02020603050405020304" pitchFamily="18" charset="0"/>
                <a:cs typeface="Times New Roman" panose="02020603050405020304" pitchFamily="18" charset="0"/>
              </a:rPr>
              <a:t>) in </a:t>
            </a:r>
            <a:r>
              <a:rPr lang="en-IN" sz="1400" i="1" dirty="0">
                <a:latin typeface="Times New Roman" panose="02020603050405020304" pitchFamily="18" charset="0"/>
                <a:cs typeface="Times New Roman" panose="02020603050405020304" pitchFamily="18" charset="0"/>
              </a:rPr>
              <a:t>Mycobacterium leprae</a:t>
            </a:r>
            <a:r>
              <a:rPr lang="en-IN" sz="1400" dirty="0">
                <a:latin typeface="Times New Roman" panose="02020603050405020304" pitchFamily="18" charset="0"/>
                <a:cs typeface="Times New Roman" panose="02020603050405020304" pitchFamily="18" charset="0"/>
              </a:rPr>
              <a:t> and their utility as viability markers. </a:t>
            </a:r>
            <a:r>
              <a:rPr lang="en-IN" sz="1400" i="1" dirty="0">
                <a:latin typeface="Times New Roman" panose="02020603050405020304" pitchFamily="18" charset="0"/>
                <a:cs typeface="Times New Roman" panose="02020603050405020304" pitchFamily="18" charset="0"/>
              </a:rPr>
              <a:t>Indian Journal of Medical Research, 136</a:t>
            </a:r>
            <a:r>
              <a:rPr lang="en-IN" sz="1400" dirty="0">
                <a:latin typeface="Times New Roman" panose="02020603050405020304" pitchFamily="18" charset="0"/>
                <a:cs typeface="Times New Roman" panose="02020603050405020304" pitchFamily="18" charset="0"/>
              </a:rPr>
              <a:t>, 483–489. </a:t>
            </a:r>
          </a:p>
          <a:p>
            <a:pPr>
              <a:buFont typeface="+mj-lt"/>
              <a:buAutoNum type="arabicPeriod"/>
            </a:pPr>
            <a:r>
              <a:rPr lang="en-IN" sz="1400" dirty="0">
                <a:latin typeface="Times New Roman" panose="02020603050405020304" pitchFamily="18" charset="0"/>
                <a:cs typeface="Times New Roman" panose="02020603050405020304" pitchFamily="18" charset="0"/>
              </a:rPr>
              <a:t>Britton, W. J., &amp; Lockwood, D. N. J. (2004). Leprosy. </a:t>
            </a:r>
            <a:r>
              <a:rPr lang="en-IN" sz="1400" i="1" dirty="0">
                <a:latin typeface="Times New Roman" panose="02020603050405020304" pitchFamily="18" charset="0"/>
                <a:cs typeface="Times New Roman" panose="02020603050405020304" pitchFamily="18" charset="0"/>
              </a:rPr>
              <a:t>The Lancet, 363</a:t>
            </a:r>
            <a:r>
              <a:rPr lang="en-IN" sz="1400" dirty="0">
                <a:latin typeface="Times New Roman" panose="02020603050405020304" pitchFamily="18" charset="0"/>
                <a:cs typeface="Times New Roman" panose="02020603050405020304" pitchFamily="18" charset="0"/>
              </a:rPr>
              <a:t>(9416), 1209–1219. https://doi.org/10.1016/S0140-6736(04)15952-7 </a:t>
            </a:r>
          </a:p>
          <a:p>
            <a:pPr>
              <a:buFont typeface="+mj-lt"/>
              <a:buAutoNum type="arabicPeriod"/>
            </a:pPr>
            <a:r>
              <a:rPr lang="en-IN" sz="1400" dirty="0">
                <a:latin typeface="Times New Roman" panose="02020603050405020304" pitchFamily="18" charset="0"/>
                <a:cs typeface="Times New Roman" panose="02020603050405020304" pitchFamily="18" charset="0"/>
              </a:rPr>
              <a:t>National Leprosy Eradication Programme (NLEP). (2023). </a:t>
            </a:r>
            <a:r>
              <a:rPr lang="en-IN" sz="1400" i="1" dirty="0">
                <a:latin typeface="Times New Roman" panose="02020603050405020304" pitchFamily="18" charset="0"/>
                <a:cs typeface="Times New Roman" panose="02020603050405020304" pitchFamily="18" charset="0"/>
              </a:rPr>
              <a:t>Operational Guidelines for Leprosy Control in India</a:t>
            </a:r>
            <a:r>
              <a:rPr lang="en-IN" sz="1400" dirty="0">
                <a:latin typeface="Times New Roman" panose="02020603050405020304" pitchFamily="18" charset="0"/>
                <a:cs typeface="Times New Roman" panose="02020603050405020304" pitchFamily="18" charset="0"/>
              </a:rPr>
              <a:t>. Ministry of Health &amp; Family Welfare, Government of India. https://nlep.nic.in/ </a:t>
            </a:r>
          </a:p>
        </p:txBody>
      </p:sp>
    </p:spTree>
    <p:extLst>
      <p:ext uri="{BB962C8B-B14F-4D97-AF65-F5344CB8AC3E}">
        <p14:creationId xmlns:p14="http://schemas.microsoft.com/office/powerpoint/2010/main" val="2139693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38796A-243A-D36D-EAFE-EB7F68707EA7}"/>
              </a:ext>
            </a:extLst>
          </p:cNvPr>
          <p:cNvSpPr txBox="1"/>
          <p:nvPr/>
        </p:nvSpPr>
        <p:spPr>
          <a:xfrm>
            <a:off x="1621765" y="2644170"/>
            <a:ext cx="5900469" cy="1569660"/>
          </a:xfrm>
          <a:prstGeom prst="rect">
            <a:avLst/>
          </a:prstGeom>
          <a:noFill/>
        </p:spPr>
        <p:txBody>
          <a:bodyPr wrap="square">
            <a:spAutoFit/>
          </a:bodyPr>
          <a:lstStyle/>
          <a:p>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70981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5516</TotalTime>
  <Words>1995</Words>
  <Application>Microsoft Office PowerPoint</Application>
  <PresentationFormat>On-screen Show (4:3)</PresentationFormat>
  <Paragraphs>222</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Times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user1</dc:creator>
  <cp:keywords/>
  <dc:description>generated using python-pptx</dc:description>
  <cp:lastModifiedBy>Gopal Singh</cp:lastModifiedBy>
  <cp:revision>34</cp:revision>
  <dcterms:created xsi:type="dcterms:W3CDTF">2013-01-27T09:14:16Z</dcterms:created>
  <dcterms:modified xsi:type="dcterms:W3CDTF">2026-06-27T01:14:09Z</dcterms:modified>
  <cp:category/>
</cp:coreProperties>
</file>